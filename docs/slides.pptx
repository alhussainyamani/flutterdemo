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691"/>
  </p:normalViewPr>
  <p:slideViewPr>
    <p:cSldViewPr snapToGrid="0" snapToObjects="1">
      <p:cViewPr varScale="1">
        <p:scale>
          <a:sx n="213" d="100"/>
          <a:sy n="213" d="100"/>
        </p:scale>
        <p:origin x="106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8763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to our ICS 410 tutorial on the Dart programming language. We are really glad you are here.</a:t>
            </a:r>
          </a:p>
          <a:p>
            <a:r>
              <a:rPr dirty="0"/>
              <a:t>Over the next thirty minutes we will give you a complete tour of Dart — what it is, where it came from, why it matters today, and how its most important language features actually work in practice.</a:t>
            </a:r>
          </a:p>
          <a:p>
            <a:r>
              <a:rPr dirty="0"/>
              <a:t>We have written this so it is useful whether you have never touched a single line of Dart in your life, or you are already a working developer who just wants a fast modern refresher.</a:t>
            </a:r>
          </a:p>
          <a:p>
            <a:r>
              <a:rPr dirty="0"/>
              <a:t>Every code example you will see has a runnable companion file in the GitHub repository linked in the description. We strongly encourage you to clone it and code along.</a:t>
            </a:r>
          </a:p>
          <a:p>
            <a:r>
              <a:rPr dirty="0"/>
              <a:t>So grab a coffee, open a terminal, and let us get started.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our roadmap for the next half hour. The video is divided into six clear sections, with timestamps on screen so you can jump around.</a:t>
            </a:r>
          </a:p>
          <a:p>
            <a:r>
              <a:rPr dirty="0"/>
              <a:t>We begin with background and setup — what Dart is, why people use it, and how to install the SDK. That takes about three and a half minutes.</a:t>
            </a:r>
          </a:p>
          <a:p>
            <a:r>
              <a:rPr dirty="0"/>
              <a:t>Then we cover data abstraction: how Dart lets you describe values with variables, primitives, conversions, and collections.</a:t>
            </a:r>
          </a:p>
          <a:p>
            <a:r>
              <a:rPr dirty="0"/>
              <a:t>Next is control abstraction — conditionals, loops, functions, and how arguments are passed.</a:t>
            </a:r>
          </a:p>
          <a:p>
            <a:r>
              <a:rPr dirty="0"/>
              <a:t>After that we explore Dart's three programming paradigms in depth: imperative, object-oriented, and functional.</a:t>
            </a:r>
          </a:p>
          <a:p>
            <a:r>
              <a:rPr dirty="0"/>
              <a:t>Then we tackle the modern Dart 3 features that really set the language apart in 2026.</a:t>
            </a:r>
          </a:p>
          <a:p>
            <a:r>
              <a:rPr dirty="0"/>
              <a:t>We close with a seven-question quiz from easy to hard, plus references for further study. Let us dive 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what is Dart? Dart is a language created at Google, first released in 2011.</a:t>
            </a:r>
          </a:p>
          <a:p>
            <a:r>
              <a:rPr dirty="0"/>
              <a:t>It was originally designed by Lars Bak and Kasper Lund — two engineers famous for their work on the V8 JavaScript engine in Chrome.</a:t>
            </a:r>
          </a:p>
          <a:p>
            <a:r>
              <a:rPr dirty="0"/>
              <a:t>"Statically typed" means every variable has a known type at compile time, catching mistakes before runtime.</a:t>
            </a:r>
          </a:p>
          <a:p>
            <a:r>
              <a:rPr dirty="0"/>
              <a:t>"Multi-paradigm" means you mix object-oriented, functional, and imperative styles freely in the same file.</a:t>
            </a:r>
          </a:p>
          <a:p>
            <a:r>
              <a:rPr dirty="0"/>
              <a:t>Dart is open source under a BSD license — a permissive open-source license that lets anyone use, modify, and redistribute the code — governed in the open on GitHub.</a:t>
            </a:r>
          </a:p>
          <a:p>
            <a:r>
              <a:rPr dirty="0"/>
              <a:t>A key feature is dual compilation. AOT, ahead-of-time, produces fast native machine code you ship to users. JIT, just-in-time, compiles while you run — enabling hot reload that shows code changes in milliseconds.</a:t>
            </a:r>
          </a:p>
          <a:p>
            <a:r>
              <a:rPr dirty="0"/>
              <a:t>Most developers meet Dart through Flutter, Google's framework for building mobile, web, desktop, and embedded apps from one codebase.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why pick Dart? It is a genuine "write once, run almost anywhere" language.</a:t>
            </a:r>
          </a:p>
          <a:p>
            <a:r>
              <a:rPr dirty="0"/>
              <a:t>For mobile, you build iOS and Android apps with Flutter from one shared codebase — saving enormous time over writing native apps separately.</a:t>
            </a:r>
          </a:p>
          <a:p>
            <a:r>
              <a:rPr dirty="0"/>
              <a:t>For the web, you compile Dart to JavaScript, or to </a:t>
            </a:r>
            <a:r>
              <a:rPr dirty="0" err="1"/>
              <a:t>WebAssembly</a:t>
            </a:r>
            <a:r>
              <a:rPr dirty="0"/>
              <a:t> for closer-to-native browser performance.</a:t>
            </a:r>
          </a:p>
          <a:p>
            <a:r>
              <a:rPr dirty="0"/>
              <a:t>For backend work, frameworks like Shelf, Dart Frog, and </a:t>
            </a:r>
            <a:r>
              <a:rPr dirty="0" err="1"/>
              <a:t>Serverpod</a:t>
            </a:r>
            <a:r>
              <a:rPr dirty="0"/>
              <a:t> power REST or </a:t>
            </a:r>
            <a:r>
              <a:rPr dirty="0" err="1"/>
              <a:t>gRPC</a:t>
            </a:r>
            <a:r>
              <a:rPr dirty="0"/>
              <a:t> — a fast Google-developed RPC protocol — APIs on the same Dart VM.</a:t>
            </a:r>
          </a:p>
          <a:p>
            <a:r>
              <a:rPr dirty="0"/>
              <a:t>For scripting, you compile command-line tools to a single native binary with no runtime to install.</a:t>
            </a:r>
          </a:p>
          <a:p>
            <a:r>
              <a:rPr dirty="0"/>
              <a:t>Dart's strengths are sound null safety, instant hot reload, excellent tooling, and a syntax familiar to anyone who has used Java, JavaScript, TypeScript, C-sharp, or Swift.</a:t>
            </a:r>
          </a:p>
          <a:p>
            <a:r>
              <a:rPr dirty="0"/>
              <a:t>Who is Dart for? Almost anyone. Approachable for first-timers, deep enough for seasoned engineers.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Installing Dart is straightforward across all three major OSes.</a:t>
            </a:r>
          </a:p>
          <a:p>
            <a:r>
              <a:rPr dirty="0"/>
              <a:t>On macOS, use Homebrew. Tap the dart-lang formula and install dart.</a:t>
            </a:r>
          </a:p>
          <a:p>
            <a:r>
              <a:rPr dirty="0"/>
              <a:t>On Windows, use Chocolatey with `</a:t>
            </a:r>
            <a:r>
              <a:rPr dirty="0" err="1"/>
              <a:t>choco</a:t>
            </a:r>
            <a:r>
              <a:rPr dirty="0"/>
              <a:t> install dart-</a:t>
            </a:r>
            <a:r>
              <a:rPr dirty="0" err="1"/>
              <a:t>sdk</a:t>
            </a:r>
            <a:r>
              <a:rPr dirty="0"/>
              <a:t>`, or grab the MSI installer from dart dot dev.</a:t>
            </a:r>
          </a:p>
          <a:p>
            <a:r>
              <a:rPr dirty="0"/>
              <a:t>On Linux, add Google's APT repo and run `</a:t>
            </a:r>
            <a:r>
              <a:rPr dirty="0" err="1"/>
              <a:t>sudo</a:t>
            </a:r>
            <a:r>
              <a:rPr dirty="0"/>
              <a:t> apt install dart`. Similar packages exist for Fedora and Arch.</a:t>
            </a:r>
          </a:p>
          <a:p>
            <a:r>
              <a:rPr dirty="0"/>
              <a:t>After installing, run `dart --version` to confirm the SDK is on your PATH.</a:t>
            </a:r>
          </a:p>
          <a:p>
            <a:r>
              <a:rPr dirty="0"/>
              <a:t>One shortcut: if you install the Flutter SDK, Dart comes bundled. So just install Flutter if you plan to do Flutter work.</a:t>
            </a:r>
          </a:p>
          <a:p>
            <a:r>
              <a:rPr dirty="0"/>
              <a:t>For multiple projects with different Flutter SDK versions, FVM — the Flutter Version Manager — can pin a Dart version per project. This is optional, and only matters if you juggle multiple Flutter projects.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For your editor, you have great options.</a:t>
            </a:r>
          </a:p>
          <a:p>
            <a:r>
              <a:rPr dirty="0"/>
              <a:t>VS Code with the official Dart extension is the most popular — fast, lightweight, with syntax highlighting, completion, diagnostics, and a debugger.</a:t>
            </a:r>
          </a:p>
          <a:p>
            <a:r>
              <a:rPr dirty="0"/>
              <a:t>JetBrains users can pick IntelliJ IDEA or Android Studio with the Dart and Flutter plugins. Heavier but more feature-rich.</a:t>
            </a:r>
          </a:p>
          <a:p>
            <a:r>
              <a:rPr dirty="0"/>
              <a:t>For zero-install, head to </a:t>
            </a:r>
            <a:r>
              <a:rPr dirty="0" err="1"/>
              <a:t>DartPad</a:t>
            </a:r>
            <a:r>
              <a:rPr dirty="0"/>
              <a:t> dot dev — a free official browser playground that runs Dart client-side.</a:t>
            </a:r>
          </a:p>
          <a:p>
            <a:r>
              <a:rPr dirty="0"/>
              <a:t>The SDK ships with `dart format`, `dart analyze`, `dart test`, and `dart run` built in. No separate utilities needed.</a:t>
            </a:r>
          </a:p>
          <a:p>
            <a:r>
              <a:rPr dirty="0"/>
              <a:t>The package manager is `dart pub`, and the public registry lives at pub dot dev. You will find packages for HTTP clients, JSON, databases, GUI widgets — anything you need.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we are getting into the core of the tutorial. The next chunk is all about data abstraction.</a:t>
            </a:r>
          </a:p>
          <a:p>
            <a:r>
              <a:rPr dirty="0"/>
              <a:t>"Data abstraction" sounds intimidating, but it is really just a fancy phrase. It means how a language lets you name values, group them together, and give them meaning.</a:t>
            </a:r>
          </a:p>
          <a:p>
            <a:r>
              <a:rPr dirty="0"/>
              <a:t>Over the next five slides we cover four big topics: variables and where they are visible, the built-in primitive types and arithmetic, how to convert between types, and finally Dart's collections and generics.</a:t>
            </a:r>
          </a:p>
          <a:p>
            <a:r>
              <a:rPr dirty="0"/>
              <a:t>"Generics" — just to define the term up front — is a way to reuse the same code across many different element types. So one List class can store integers, strings, or anything else.</a:t>
            </a:r>
          </a:p>
          <a:p>
            <a:r>
              <a:rPr dirty="0"/>
              <a:t>By the end of this section you should be confident modeling basic data in Dart programs. Let us begin.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Dart gives you five ways to declare a variable, each telling the compiler something different.</a:t>
            </a:r>
          </a:p>
          <a:p>
            <a:r>
              <a:rPr dirty="0"/>
              <a:t>`var` infers the type from the initial value, and can be reassigned later. Your everyday workhorse.</a:t>
            </a:r>
          </a:p>
          <a:p>
            <a:r>
              <a:rPr dirty="0"/>
              <a:t>`final` is assigned exactly once and frozen for life. But the value can be computed at runtime — great for a timestamp or a request ID.</a:t>
            </a:r>
          </a:p>
          <a:p>
            <a:r>
              <a:rPr dirty="0"/>
              <a:t>`const` is stronger. The value must be known at compile time and gets baked into the binary. Two const-equal values share memory.</a:t>
            </a:r>
          </a:p>
          <a:p>
            <a:r>
              <a:rPr dirty="0"/>
              <a:t>`late` says "I promise to assign before I read." Handy for fields initialized in a constructor body or computed lazily on first read.</a:t>
            </a:r>
          </a:p>
          <a:p>
            <a:r>
              <a:rPr dirty="0"/>
              <a:t>`dynamic` opts out of static typing — powerful but risky. Use it sparingly, mostly when interfacing with untyped data like raw JSON.</a:t>
            </a:r>
          </a:p>
          <a:p>
            <a:r>
              <a:rPr dirty="0"/>
              <a:t>Scope is lexical. A name is visible only inside the curly-brace block where declared, plus nested blocks, and goes out of scope when the block ends.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Dart's primitive types are clean.</a:t>
            </a:r>
          </a:p>
          <a:p>
            <a:r>
              <a:rPr dirty="0"/>
              <a:t>`int` is whole numbers — sixty-four-bit signed integers on native platforms.</a:t>
            </a:r>
          </a:p>
          <a:p>
            <a:r>
              <a:rPr dirty="0"/>
              <a:t>`double` is sixty-four-bit IEEE-754 floating-point values.</a:t>
            </a:r>
          </a:p>
          <a:p>
            <a:r>
              <a:rPr dirty="0"/>
              <a:t>`num` is a parent type holding either an int or a double, useful when accepting either.</a:t>
            </a:r>
          </a:p>
          <a:p>
            <a:r>
              <a:rPr dirty="0"/>
              <a:t>`bool` is strictly true or false. Unlike JavaScript, an empty string, zero, or null is not "</a:t>
            </a:r>
            <a:r>
              <a:rPr dirty="0" err="1"/>
              <a:t>falsy</a:t>
            </a:r>
            <a:r>
              <a:rPr dirty="0"/>
              <a:t>" — an `if` condition must be an actual bool.</a:t>
            </a:r>
          </a:p>
          <a:p>
            <a:r>
              <a:rPr dirty="0"/>
              <a:t>`String` stores UTF-16 text. Single or double quotes work, and dollar-sign interpolation embeds expressions inside a string.</a:t>
            </a:r>
          </a:p>
          <a:p>
            <a:r>
              <a:rPr dirty="0"/>
              <a:t>Arithmetic operators are familiar from C-style languages. But watch the tilde-slash — that is integer division, truncating toward zero and returning an int.</a:t>
            </a:r>
          </a:p>
          <a:p>
            <a:r>
              <a:rPr dirty="0"/>
              <a:t>Regular slash always returns a double, even when dividing two integers. So seven divided by two is three point five, not three.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Dart does not auto-convert between types. You convert explicitly, preventing subtle bugs.</a:t>
            </a:r>
          </a:p>
          <a:p>
            <a:r>
              <a:rPr dirty="0"/>
              <a:t>To go from string to number, call `</a:t>
            </a:r>
            <a:r>
              <a:rPr dirty="0" err="1"/>
              <a:t>int.parse</a:t>
            </a:r>
            <a:r>
              <a:rPr dirty="0"/>
              <a:t>` or `</a:t>
            </a:r>
            <a:r>
              <a:rPr dirty="0" err="1"/>
              <a:t>double.parse</a:t>
            </a:r>
            <a:r>
              <a:rPr dirty="0"/>
              <a:t>`. If input might be malformed, prefer `</a:t>
            </a:r>
            <a:r>
              <a:rPr dirty="0" err="1"/>
              <a:t>tryParse</a:t>
            </a:r>
            <a:r>
              <a:rPr dirty="0"/>
              <a:t>`, which returns null instead of throwing.</a:t>
            </a:r>
          </a:p>
          <a:p>
            <a:r>
              <a:rPr dirty="0"/>
              <a:t>For number to string, call `</a:t>
            </a:r>
            <a:r>
              <a:rPr dirty="0" err="1"/>
              <a:t>toString</a:t>
            </a:r>
            <a:r>
              <a:rPr dirty="0"/>
              <a:t>` or use string interpolation.</a:t>
            </a:r>
          </a:p>
          <a:p>
            <a:r>
              <a:rPr dirty="0"/>
              <a:t>To force one type into another at runtime, use `as`. If the cast mismatches, you get an exception, so usually guard with an `is` check first.</a:t>
            </a:r>
          </a:p>
          <a:p>
            <a:r>
              <a:rPr dirty="0"/>
              <a:t>`is` returns true when an object is compatible with a type. `is!` is its negation.</a:t>
            </a:r>
          </a:p>
          <a:p>
            <a:r>
              <a:rPr dirty="0"/>
              <a:t>After an `is` check, the compiler "type-promotes" the variable, so you can use it directly without an extra cast.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Beyond primitives, Dart ships rich built-in collections.</a:t>
            </a:r>
          </a:p>
          <a:p>
            <a:r>
              <a:rPr dirty="0"/>
              <a:t>`List` is an ordered sequence, growable by default — like an array in C or Java.</a:t>
            </a:r>
          </a:p>
          <a:p>
            <a:r>
              <a:rPr dirty="0"/>
              <a:t>`Set` is an unordered collection that rejects duplicates — perfect when you care only about membership.</a:t>
            </a:r>
          </a:p>
          <a:p>
            <a:r>
              <a:rPr dirty="0"/>
              <a:t>`Map` stores key-value pairs, like a Python dictionary.</a:t>
            </a:r>
          </a:p>
          <a:p>
            <a:r>
              <a:rPr dirty="0"/>
              <a:t>All three are generic. You parameterize them with the element type using angle brackets — `List&lt;int&gt;`, `Map&lt;String, int&gt;`.</a:t>
            </a:r>
          </a:p>
          <a:p>
            <a:r>
              <a:rPr dirty="0"/>
              <a:t>You can write your own generic classes too, with `&lt;T&gt;` after the class name.</a:t>
            </a:r>
          </a:p>
          <a:p>
            <a:r>
              <a:rPr dirty="0"/>
              <a:t>New in Dart 3 are records — anonymous fixed-size tuples you can return without defining a class. We revisit records on slide twenty-six.</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we shift gears from data to control.</a:t>
            </a:r>
          </a:p>
          <a:p>
            <a:r>
              <a:rPr dirty="0"/>
              <a:t>"Control abstraction" is just the term for how a language lets you steer the flow of execution — when to branch, when to loop, when to call into another piece of code.</a:t>
            </a:r>
          </a:p>
          <a:p>
            <a:r>
              <a:rPr dirty="0"/>
              <a:t>Over the next five slides we will look at branching with conditionals, repeating with loops, defining and calling functions, and finally what actually happens when you pass a value as an argument.</a:t>
            </a:r>
          </a:p>
          <a:p>
            <a:r>
              <a:rPr dirty="0"/>
              <a:t>That last point — pass semantics — is something many languages get subtly different. Confusion about it is the source of countless bugs in real production code, so we will be very precise about it.</a:t>
            </a:r>
          </a:p>
          <a:p>
            <a:r>
              <a:rPr dirty="0"/>
              <a:t>Together with data abstraction, control abstraction gives you the building blocks for every program you will ever write.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Branching in Dart looks familiar to anyone who has used a C-style language.</a:t>
            </a:r>
          </a:p>
          <a:p>
            <a:r>
              <a:rPr dirty="0"/>
              <a:t>You have classic `if`, `else if`, `else` chains for multi-way branching. And you have the ternary operator with question-mark and colon for picking between two values inline.</a:t>
            </a:r>
          </a:p>
          <a:p>
            <a:r>
              <a:rPr dirty="0"/>
              <a:t>The double question mark — formally called the null-coalescing operator — gives you a quick fallback when the left side is null. We will see this again when we cover null safety.</a:t>
            </a:r>
          </a:p>
          <a:p>
            <a:r>
              <a:rPr dirty="0"/>
              <a:t>Dart 3 added two big improvements here. First, switch expressions, which actually return a value rather than just executing statements.</a:t>
            </a:r>
          </a:p>
          <a:p>
            <a:r>
              <a:rPr dirty="0"/>
              <a:t>Second, pattern matching, which lets you </a:t>
            </a:r>
            <a:r>
              <a:rPr dirty="0" err="1"/>
              <a:t>destructure</a:t>
            </a:r>
            <a:r>
              <a:rPr dirty="0"/>
              <a:t> objects, records, and lists right inside the case label.</a:t>
            </a:r>
          </a:p>
          <a:p>
            <a:r>
              <a:rPr dirty="0"/>
              <a:t>Notice how clean that grade-tier example is. No break statements anywhere, no </a:t>
            </a:r>
            <a:r>
              <a:rPr dirty="0" err="1"/>
              <a:t>fallthrough</a:t>
            </a:r>
            <a:r>
              <a:rPr dirty="0"/>
              <a:t> bugs to worry about. The underscore is the wildcard catch-all pattern. That style of code reads more like math than control flow, and it is one of the nicest parts of modern Dart.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Looping in Dart covers all the usual cases you would expect.</a:t>
            </a:r>
          </a:p>
          <a:p>
            <a:r>
              <a:rPr dirty="0"/>
              <a:t>The classic three-part `for` loop with an explicit index is there when you genuinely need a counter.</a:t>
            </a:r>
          </a:p>
          <a:p>
            <a:r>
              <a:rPr dirty="0"/>
              <a:t>The `for-in` form iterates over any </a:t>
            </a:r>
            <a:r>
              <a:rPr dirty="0" err="1"/>
              <a:t>iterable</a:t>
            </a:r>
            <a:r>
              <a:rPr dirty="0"/>
              <a:t> — lists, sets, even custom lazy </a:t>
            </a:r>
            <a:r>
              <a:rPr dirty="0" err="1"/>
              <a:t>iterables</a:t>
            </a:r>
            <a:r>
              <a:rPr dirty="0"/>
              <a:t> we will build in a few slides. This is the form you should reach for first because it is more readable.</a:t>
            </a:r>
          </a:p>
          <a:p>
            <a:r>
              <a:rPr dirty="0"/>
              <a:t>`while` and `do-while` behave exactly the way you expect from any C-style language. `while` checks the condition first; `do-while` checks after the first iteration.</a:t>
            </a:r>
          </a:p>
          <a:p>
            <a:r>
              <a:rPr dirty="0"/>
              <a:t>And of course you can recurse — define a function that calls itself. But always include a base case so you do not blow up the call stack with infinite recursion.</a:t>
            </a:r>
          </a:p>
          <a:p>
            <a:r>
              <a:rPr dirty="0"/>
              <a:t>The factorial example here is a one-liner thanks to the arrow function syntax we will cover in just two slides.</a:t>
            </a:r>
          </a:p>
          <a:p>
            <a:r>
              <a:rPr dirty="0"/>
              <a:t>Both `break` and `continue` work normally inside loops. Dart also supports labeled breaks for jumping out of nested loops in one shot.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Functions in Dart are wonderfully flexible.</a:t>
            </a:r>
          </a:p>
          <a:p>
            <a:r>
              <a:rPr dirty="0"/>
              <a:t>By default, parameters are positional and required.</a:t>
            </a:r>
          </a:p>
          <a:p>
            <a:r>
              <a:rPr dirty="0"/>
              <a:t>Square brackets make parameters optional and positional, with defaults you specify.</a:t>
            </a:r>
          </a:p>
          <a:p>
            <a:r>
              <a:rPr dirty="0"/>
              <a:t>Curly braces make them named. Named parameters self-document call sites because you write each name at the call.</a:t>
            </a:r>
          </a:p>
          <a:p>
            <a:r>
              <a:rPr dirty="0"/>
              <a:t>Mark named parameters `required` for compiler enforcement, or give them defaults.</a:t>
            </a:r>
          </a:p>
          <a:p>
            <a:r>
              <a:rPr dirty="0"/>
              <a:t>The fat-arrow is shorthand for a single-expression body — same as `return expr`, but tighter.</a:t>
            </a:r>
          </a:p>
          <a:p>
            <a:r>
              <a:rPr dirty="0"/>
              <a:t>Functions are first-class values: pass them, store them, return them.</a:t>
            </a:r>
          </a:p>
          <a:p>
            <a:r>
              <a:rPr dirty="0"/>
              <a:t>They form proper closures, capturing variables from the surrounding scope.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that trips many people up. Listen closely.</a:t>
            </a:r>
          </a:p>
          <a:p>
            <a:r>
              <a:rPr dirty="0"/>
              <a:t>Dart is "pass-by-value-of-the-reference," sometimes called call-by-sharing.</a:t>
            </a:r>
          </a:p>
          <a:p>
            <a:r>
              <a:rPr dirty="0"/>
              <a:t>For primitive numbers and </a:t>
            </a:r>
            <a:r>
              <a:rPr dirty="0" err="1"/>
              <a:t>booleans</a:t>
            </a:r>
            <a:r>
              <a:rPr dirty="0"/>
              <a:t>, the value itself is copied into the parameter. Changes inside the function are local — they never leak out.</a:t>
            </a:r>
          </a:p>
          <a:p>
            <a:r>
              <a:rPr dirty="0"/>
              <a:t>For objects — lists, maps, sets, your own classes — what gets copied is the reference handle to the underlying object.</a:t>
            </a:r>
          </a:p>
          <a:p>
            <a:r>
              <a:rPr dirty="0"/>
              <a:t>Both caller and function now hold separate handles pointing at the same single object in memory.</a:t>
            </a:r>
          </a:p>
          <a:p>
            <a:r>
              <a:rPr dirty="0"/>
              <a:t>Mutating through the handle — say, calling `add` on a list — is visible to the caller because they share the object.</a:t>
            </a:r>
          </a:p>
          <a:p>
            <a:r>
              <a:rPr dirty="0"/>
              <a:t>But reassigning the parameter to a different object only changes the local handle. The caller's variable is untouched.</a:t>
            </a:r>
          </a:p>
          <a:p>
            <a:r>
              <a:rPr dirty="0"/>
              <a:t>Same model as Java, Python, and JavaScript — once you have it, it transfers.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Dart is explicitly multi-paradigm — it supports imperative, object-oriented, and functional programming styles. And crucially, you can mix all three freely in the same file.</a:t>
            </a:r>
          </a:p>
          <a:p>
            <a:r>
              <a:t>It leans OOP-first in the sense that every single value in Dart is an object. Yes, even integers, even booleans, and even functions themselves are objects with methods you can call.</a:t>
            </a:r>
          </a:p>
          <a:p>
            <a:r>
              <a:t>But Dart also has very strong first-class functional features — lambdas, higher-order functions, immutable data patterns, and pure expression-based forms like switch expressions.</a:t>
            </a:r>
          </a:p>
          <a:p>
            <a:r>
              <a:t>The big takeaway is that Dart does not force a single style on you. You pick the right tool for each individual problem and combine them as needed.</a:t>
            </a:r>
          </a:p>
          <a:p>
            <a:r>
              <a:t>In real-world Dart code you will routinely see classes, functional pipelines, and old-school for-loops all coexisting in the same file. And that is healthy — pragmatic code wins.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OOP in Dart starts with the `class` keyword.</a:t>
            </a:r>
          </a:p>
          <a:p>
            <a:r>
              <a:t>A class bundles together fields — which are the data — methods — which are the behavior — and constructors, which build new instances.</a:t>
            </a:r>
          </a:p>
          <a:p>
            <a:r>
              <a:t>Privacy in Dart is handled by a single naming convention. A leading underscore on any name makes it library-private, meaning only code inside the same Dart source file can see it. There are no separate `public` or `private` keywords like in Java.</a:t>
            </a:r>
          </a:p>
          <a:p>
            <a:r>
              <a:t>Getters and setters let you expose computed values that look exactly like plain fields from the outside. That is fantastic for encapsulation — you can change the internal implementation later without breaking callers.</a:t>
            </a:r>
          </a:p>
          <a:p>
            <a:r>
              <a:t>Constructors come in three flavors. The default constructor matches the class name. Named constructors give a descriptive name to a particular way of building. And factory constructors can return a cached existing instance, or even an instance of a subclass.</a:t>
            </a:r>
          </a:p>
          <a:p>
            <a:r>
              <a:t>The `this.underscore_name` shorthand in the constructor parameter list is a really nice touch. It automatically assigns the argument to the matching field — saving a line of boilerplate.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Inheritance lets one class build on another.</a:t>
            </a:r>
          </a:p>
          <a:p>
            <a:r>
              <a:t>In Dart you write `extends` — and importantly, you can only extend one parent class at a time. That is called single inheritance.</a:t>
            </a:r>
          </a:p>
          <a:p>
            <a:r>
              <a:t>To replace a parent's method, you redefine it in the child class and add the at-override annotation. The analyzer will warn you if the parent does not actually have that method, which catches typos and refactor bugs early.</a:t>
            </a:r>
          </a:p>
          <a:p>
            <a:r>
              <a:t>From inside an override you can still call the parent's version with the `super` keyword, useful when you want to extend behavior rather than completely replace it. A common pattern is logging before calling super.</a:t>
            </a:r>
          </a:p>
          <a:p>
            <a:r>
              <a:t>Constructors also chain to the parent automatically. If you do not specify, Dart calls the no-arg constructor of the parent. You can be explicit with the colon-super syntax in your constructor signature when you need to pass arguments.</a:t>
            </a:r>
          </a:p>
          <a:p>
            <a:r>
              <a:t>And every class in Dart implicitly extends the `Object` class, which is the root of the type hierarchy.</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Polymorphism — literally "many forms" — is the principle that the same method name does the right thing for whatever object you call it on, even when the calling code does not know the precise type.</a:t>
            </a:r>
          </a:p>
          <a:p>
            <a:r>
              <a:t>In Dart you mark classes you do not want anyone to instantiate directly with the `abstract` keyword. Abstract classes act as templates or contracts for their subclasses.</a:t>
            </a:r>
          </a:p>
          <a:p>
            <a:r>
              <a:t>Methods declared without a body inside an abstract class must be implemented by every concrete subclass — the analyzer enforces this rule, so you cannot accidentally forget one.</a:t>
            </a:r>
          </a:p>
          <a:p>
            <a:r>
              <a:t>When you call a method on a variable typed as the parent class, Dart looks up the actual runtime class of the object and calls that subclass's version of the method. That runtime lookup is called virtual dispatch, and it is what makes polymorphism work.</a:t>
            </a:r>
          </a:p>
          <a:p>
            <a:r>
              <a:t>Dart 3 also added `interface class` and `final class` modifiers, which let library authors precisely control whether their classes can be extended or implemented externally. A really nice tool for API design.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functional side of Dart, a lambda is just an unnamed function — a value you can pass around like any other piece of data.</a:t>
            </a:r>
          </a:p>
          <a:p>
            <a:r>
              <a:t>A higher-order function is simply one that accepts another function as an argument or returns a function.</a:t>
            </a:r>
          </a:p>
          <a:p>
            <a:r>
              <a:t>Dart's standard collection classes come with the classic higher-order toolbox built right in.</a:t>
            </a:r>
          </a:p>
          <a:p>
            <a:r>
              <a:t>`map` transforms each element through a function you supply.</a:t>
            </a:r>
          </a:p>
          <a:p>
            <a:r>
              <a:t>`where` filters — it keeps only the elements that pass a predicate test.</a:t>
            </a:r>
          </a:p>
          <a:p>
            <a:r>
              <a:t>`reduce` and `fold` both collapse a sequence into a single accumulated value. The difference is that `fold` lets you supply your own starting seed value, while `reduce` uses the first element as the seed and throws on empty input.</a:t>
            </a:r>
          </a:p>
          <a:p>
            <a:r>
              <a:t>There are many more — `forEach`, `any`, `every`, `expand`, `take`, `skip`, and so on — all defined on the `Iterable` type.</a:t>
            </a:r>
          </a:p>
          <a:p>
            <a:r>
              <a:t>Chaining these together lets you express transformations declaratively, often replacing a whole imperative loop with one expressive readable line.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Iterables in Dart can be lazy, meaning they generate their values only as you actually consume them, not all upfront.</a:t>
            </a:r>
          </a:p>
          <a:p>
            <a:r>
              <a:t>Mark a function body with the `sync*` keyword and use the `yield` keyword inside, and Dart turns the function into a lazy iterable generator.</a:t>
            </a:r>
          </a:p>
          <a:p>
            <a:r>
              <a:t>Each call to `next` on the resulting iterable runs the function body just far enough to produce one more value, then pauses execution.</a:t>
            </a:r>
          </a:p>
          <a:p>
            <a:r>
              <a:t>This is incredibly useful for infinite or computationally expensive sequences. Absolutely nothing happens until something actually iterates the result, and you can stop early without wasting work.</a:t>
            </a:r>
          </a:p>
          <a:p>
            <a:r>
              <a:t>You can also chain `map` and `where` on these iterables, and the laziness propagates through the whole pipeline. Only what you ask for is computed.</a:t>
            </a:r>
          </a:p>
          <a:p>
            <a:r>
              <a:t>The `yield*` variant — yield-star — lets one generator delegate to another iterable, which is great for composing generators.</a:t>
            </a:r>
          </a:p>
          <a:p>
            <a:r>
              <a:t>For the live demo, see `lib/06_functional/lazy_iterables.dart` — it shows the `naturals()` infinite generator capped by `.take(10)` and chained lazy `where`/`map`/`take` operations.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Sound null safety is one of Dart's signature features and was a major addition back in Dart 2.12.</a:t>
            </a:r>
          </a:p>
          <a:p>
            <a:r>
              <a:t>By default, every type in modern Dart is non-nullable. A `String` variable cannot be null, full stop, and the compiler statically enforces it before your code ever runs.</a:t>
            </a:r>
          </a:p>
          <a:p>
            <a:r>
              <a:t>To opt in to nullability you add a question mark to the type. So `String?` is a String that may also be null.</a:t>
            </a:r>
          </a:p>
          <a:p>
            <a:r>
              <a:t>The question-mark-dot operator is a safe member access. It returns null instead of crashing if the receiver is null.</a:t>
            </a:r>
          </a:p>
          <a:p>
            <a:r>
              <a:t>The double question mark gives you a fallback value when the left side is null.</a:t>
            </a:r>
          </a:p>
          <a:p>
            <a:r>
              <a:t>And the bang or exclamation mark forces the compiler to treat a nullable value as non-null. It will throw a runtime error if you are wrong, so only use it when you are absolutely certain.</a:t>
            </a:r>
          </a:p>
          <a:p>
            <a:r>
              <a:t>There is also `??=` — assign only if currently null. Useful for lazy initialization.</a:t>
            </a:r>
          </a:p>
          <a:p>
            <a:r>
              <a:t>Together these tools statically eliminate an entire class of bugs that plague languages without null safety. And they add zero runtime overhead.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Asynchronous code in Dart is built around the `Future` type.</a:t>
            </a:r>
          </a:p>
          <a:p>
            <a:r>
              <a:t>A `Future` is a placeholder — a promise — for a value that will exist later. Like the response from a network request or a slow database query.</a:t>
            </a:r>
          </a:p>
          <a:p>
            <a:r>
              <a:t>Mark a function with the `async` keyword and it implicitly returns a `Future` and can use the `await` keyword inside its body.</a:t>
            </a:r>
          </a:p>
          <a:p>
            <a:r>
              <a:t>`await` suspends the surrounding async function until the awaited `Future` completes, then resumes execution with the resolved value bound to the result of the await expression.</a:t>
            </a:r>
          </a:p>
          <a:p>
            <a:r>
              <a:t>Dart programs run on a single-threaded event loop. So two pieces of Dart code never execute at exactly the same time on the same isolate.</a:t>
            </a:r>
          </a:p>
          <a:p>
            <a:r>
              <a:t>But the event loop interleaves many awaiting tasks for very high concurrency. While one task awaits, another can run.</a:t>
            </a:r>
          </a:p>
          <a:p>
            <a:r>
              <a:t>When you have many values arriving over time rather than just one — say, a sequence of user clicks or websocket messages — you use a `Stream` instead of a single `Future`.</a:t>
            </a:r>
          </a:p>
          <a:p>
            <a:r>
              <a:t>And if you really need true parallelism for CPU-bound work, Dart provides `Isolate`s — independent memory-isolated worker contexts.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Mixins solve a real practical problem. You frequently want to share behavior across classes that do not share a single parent.</a:t>
            </a:r>
          </a:p>
          <a:p>
            <a:r>
              <a:t>Classic multiple inheritance from C-plus-plus handles this, but creates its own headaches — like the diamond problem where two parents define the same method.</a:t>
            </a:r>
          </a:p>
          <a:p>
            <a:r>
              <a:t>In Dart you define a mixin — a bundle of methods and fields — and you apply it to any class with the `with` keyword.</a:t>
            </a:r>
          </a:p>
          <a:p>
            <a:r>
              <a:t>You can apply several mixins at once on the same class. Order matters — methods are resolved last-mixin-wins, with the rightmost mixin taking priority.</a:t>
            </a:r>
          </a:p>
          <a:p>
            <a:r>
              <a:t>You can also restrict a mixin to only classes that extend a specific type using the `on` clause. That is great for safety, because it lets the mixin call methods it knows the host class will provide.</a:t>
            </a:r>
          </a:p>
          <a:p>
            <a:r>
              <a:t>Dart 3 added "mixin classes" which can be both extended like a regular class and mixed in like a mixin, providing extra flexibility for library authors.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Records and patterns are two of the headline features of Dart 3, and they pair beautifully together.</a:t>
            </a:r>
          </a:p>
          <a:p>
            <a:r>
              <a:t>A record is like a tuple — a small fixed-size group of values that you can return from a function without first defining a class for it.</a:t>
            </a:r>
          </a:p>
          <a:p>
            <a:r>
              <a:t>Records can have positional fields, named fields, or both at the same time. And you can destructure them using patterns, pulling values directly into named local variables in one clean line.</a:t>
            </a:r>
          </a:p>
          <a:p>
            <a:r>
              <a:t>Patterns also work inside switch expressions, which lets you replace many small wrapper classes with concise inline matches.</a:t>
            </a:r>
          </a:p>
          <a:p>
            <a:r>
              <a:t>Records have value semantics. Two records with the same shape and equal fields are equal under double-equals and produce the same hash code. Fantastic for use as map keys.</a:t>
            </a:r>
          </a:p>
          <a:p>
            <a:r>
              <a:t>See `lib/02_collections/records_tuples.dart` in the companion repository for the live demo we walk through in the video.</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Extension methods let you add brand-new methods to types you did not write yourself — including the built-in standard library types like `String`, `int`, and `List`.</a:t>
            </a:r>
          </a:p>
          <a:p>
            <a:r>
              <a:t>You declare an `extension` block with the `extension` keyword and a target type. Inside the block you add methods that look and feel exactly like real members of that type.</a:t>
            </a:r>
          </a:p>
          <a:p>
            <a:r>
              <a:t>The Dart compiler resolves the call statically based on the static type at the call site. So there is no runtime overhead at all, and no risk of accidentally breaking other parts of the codebase that did not import your extension.</a:t>
            </a:r>
          </a:p>
          <a:p>
            <a:r>
              <a:t>This pattern is fantastic for keeping code readable. Instead of writing `formatMoney(balance)` with the value as an argument, you write `balance.formatMoney()`. The method chain reads naturally left to right.</a:t>
            </a:r>
          </a:p>
          <a:p>
            <a:r>
              <a:t>Extensions can also add getters, setters, and even operators — not just plain methods. So you have full flexibility.</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Time for a quiz — seven questions, easiest to hardest.</a:t>
            </a:r>
          </a:p>
          <a:p>
            <a:r>
              <a:t>Question one. Dart is primarily developed by which company? A Microsoft, B Google, C JetBrains, D Mozilla?</a:t>
            </a:r>
          </a:p>
          <a:p>
            <a:r>
              <a:t>*(Pause ~3 seconds.)*</a:t>
            </a:r>
          </a:p>
          <a:p>
            <a:r>
              <a:t>The correct answer is B — Google. Dart was created at Google in 2011 and remains a Google-led open-source project.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two. Which keyword declares a compile-time constant — a value baked into the binary at compile time? A var, B final, C const, D late?</a:t>
            </a:r>
          </a:p>
          <a:p>
            <a:r>
              <a:t>*(Pause ~3 seconds.)*</a:t>
            </a:r>
          </a:p>
          <a:p>
            <a:r>
              <a:t>The correct answer is C — const. `var` allows reassignment, `final` freezes after first runtime assignment, `late` delays initialization. Only `const` is required to be known at compile time.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three. In Dart, function arguments are passed by… A pure value, B pure reference, C value of the reference, D name?</a:t>
            </a:r>
          </a:p>
          <a:p>
            <a:r>
              <a:t>*(Pause ~3 seconds.)*</a:t>
            </a:r>
          </a:p>
          <a:p>
            <a:r>
              <a:t>The correct answer is C — value of the reference. The handle is copied; mutations to the object are visible to the caller, but reassigning the parameter is not. Same model as Java and Python.</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four. Which mechanism lets a Dart class reuse code from multiple sources without traditional multiple inheritance? A extends, B implements, C `with` (mixins), D `as`?</a:t>
            </a:r>
          </a:p>
          <a:p>
            <a:r>
              <a:t>*(Pause ~3 seconds.)*</a:t>
            </a:r>
          </a:p>
          <a:p>
            <a:r>
              <a:t>The correct answer is C — `with`, using mixins. Extends only inherits from one parent. Implements forces redefining every method. `as` is for casting. Mixins stack reusable behavior.</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five — hard mode. What does a `sync*` function return? A Future, B Iterable lazily produced via yield, C Stream, D void?</a:t>
            </a:r>
          </a:p>
          <a:p>
            <a:r>
              <a:t>*(Pause ~3 seconds.)*</a:t>
            </a:r>
          </a:p>
          <a:p>
            <a:r>
              <a:t>The correct answer is B — an Iterable lazily produced via yield. `sync*` is for synchronous lazy generators; `async*` returns a Stream instead.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 six. What does `await` do to a `Future&lt;T&gt;`? A cancels it, B converts to T synchronously, C suspends the async function until completion then yields T, D wraps T in another Future?</a:t>
            </a:r>
          </a:p>
          <a:p>
            <a:r>
              <a:t>*(Pause ~3 seconds.)*</a:t>
            </a:r>
          </a:p>
          <a:p>
            <a:r>
              <a:t>The correct answer is C — `await` suspends the surrounding async function until the future completes, then resumes with the resolved T value. The function is suspended, not blocking — other event-loop tasks keep running.</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quiz question. Extension methods allow you to… A modify Dart's standard library source, B add methods to existing types without subclassing, C override private fields, D replace mixins?</a:t>
            </a:r>
          </a:p>
          <a:p>
            <a:r>
              <a:t>*(Pause ~3 seconds.)*</a:t>
            </a:r>
          </a:p>
          <a:p>
            <a:r>
              <a:t>The correct answer is B — add methods to existing types without subclassing. The compiler resolves the call statically; no original source is modified.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is a wrap — thank you for watching.</a:t>
            </a:r>
          </a:p>
          <a:p>
            <a:r>
              <a:t>Clone the companion repo and code along with every example. The link is in the description.</a:t>
            </a:r>
          </a:p>
          <a:p>
            <a:r>
              <a:t>Detailed references and further reading are in `docs/REFERENCES.md`.</a:t>
            </a:r>
          </a:p>
          <a:p>
            <a:r>
              <a:t>Slides are CC BY 4.0; code is MIT — fork and remix freely.</a:t>
            </a:r>
          </a:p>
          <a:p>
            <a:r>
              <a:t>Produced by Team Member 1, Team Member 2, and Team Member 3 for ICS 410, Spring 2026.</a:t>
            </a:r>
          </a:p>
          <a:p>
            <a:r>
              <a:t>If this helped, please like, subscribe, and drop your questions in the comments. See you next time.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1364"/>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54864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dart-logo.png"/>
          <p:cNvPicPr>
            <a:picLocks noChangeAspect="1"/>
          </p:cNvPicPr>
          <p:nvPr/>
        </p:nvPicPr>
        <p:blipFill>
          <a:blip r:embed="rId3"/>
          <a:stretch>
            <a:fillRect/>
          </a:stretch>
        </p:blipFill>
        <p:spPr>
          <a:xfrm>
            <a:off x="5364327" y="1097280"/>
            <a:ext cx="1463040" cy="1463040"/>
          </a:xfrm>
          <a:prstGeom prst="rect">
            <a:avLst/>
          </a:prstGeom>
        </p:spPr>
      </p:pic>
      <p:sp>
        <p:nvSpPr>
          <p:cNvPr id="5" name="TextBox 4"/>
          <p:cNvSpPr txBox="1"/>
          <p:nvPr/>
        </p:nvSpPr>
        <p:spPr>
          <a:xfrm>
            <a:off x="457200" y="2743200"/>
            <a:ext cx="11247120" cy="1280160"/>
          </a:xfrm>
          <a:prstGeom prst="rect">
            <a:avLst/>
          </a:prstGeom>
          <a:noFill/>
        </p:spPr>
        <p:txBody>
          <a:bodyPr wrap="none">
            <a:spAutoFit/>
          </a:bodyPr>
          <a:lstStyle/>
          <a:p>
            <a:pPr algn="ctr"/>
            <a:r>
              <a:rPr sz="5400" b="1">
                <a:solidFill>
                  <a:srgbClr val="042B59"/>
                </a:solidFill>
                <a:latin typeface="Calibri"/>
              </a:rPr>
              <a:t>Dart: A Complete Tour</a:t>
            </a:r>
          </a:p>
        </p:txBody>
      </p:sp>
      <p:sp>
        <p:nvSpPr>
          <p:cNvPr id="6" name="TextBox 5"/>
          <p:cNvSpPr txBox="1"/>
          <p:nvPr/>
        </p:nvSpPr>
        <p:spPr>
          <a:xfrm>
            <a:off x="3791191" y="4114800"/>
            <a:ext cx="4579138" cy="461665"/>
          </a:xfrm>
          <a:prstGeom prst="rect">
            <a:avLst/>
          </a:prstGeom>
          <a:noFill/>
        </p:spPr>
        <p:txBody>
          <a:bodyPr wrap="none">
            <a:spAutoFit/>
          </a:bodyPr>
          <a:lstStyle/>
          <a:p>
            <a:pPr algn="ctr"/>
            <a:r>
              <a:rPr sz="2400" dirty="0">
                <a:solidFill>
                  <a:srgbClr val="6B7280"/>
                </a:solidFill>
                <a:latin typeface="Calibri"/>
              </a:rPr>
              <a:t>ICS 410 — Programming Languages</a:t>
            </a:r>
          </a:p>
        </p:txBody>
      </p:sp>
      <p:sp>
        <p:nvSpPr>
          <p:cNvPr id="7" name="TextBox 6"/>
          <p:cNvSpPr txBox="1"/>
          <p:nvPr/>
        </p:nvSpPr>
        <p:spPr>
          <a:xfrm>
            <a:off x="826258" y="4937760"/>
            <a:ext cx="10509032" cy="369332"/>
          </a:xfrm>
          <a:prstGeom prst="rect">
            <a:avLst/>
          </a:prstGeom>
          <a:noFill/>
        </p:spPr>
        <p:txBody>
          <a:bodyPr wrap="none">
            <a:spAutoFit/>
          </a:bodyPr>
          <a:lstStyle/>
          <a:p>
            <a:pPr algn="ctr"/>
            <a:r>
              <a:rPr sz="1800" i="1" dirty="0">
                <a:solidFill>
                  <a:srgbClr val="6B7280"/>
                </a:solidFill>
                <a:latin typeface="Calibri"/>
              </a:rPr>
              <a:t>Produced by </a:t>
            </a:r>
            <a:r>
              <a:rPr lang="en-US" sz="1800" i="1" dirty="0">
                <a:solidFill>
                  <a:srgbClr val="6B7280"/>
                </a:solidFill>
                <a:latin typeface="Calibri"/>
              </a:rPr>
              <a:t>Alhussain Yamani – 202173530</a:t>
            </a:r>
            <a:r>
              <a:rPr sz="1800" i="1" dirty="0">
                <a:solidFill>
                  <a:srgbClr val="6B7280"/>
                </a:solidFill>
                <a:latin typeface="Calibri"/>
              </a:rPr>
              <a:t>, </a:t>
            </a:r>
            <a:r>
              <a:rPr lang="en-US" sz="1800" i="1" dirty="0">
                <a:solidFill>
                  <a:srgbClr val="6B7280"/>
                </a:solidFill>
                <a:latin typeface="Calibri"/>
              </a:rPr>
              <a:t>Abdulaziz Alarifi - 202158910</a:t>
            </a:r>
            <a:r>
              <a:rPr sz="1800" i="1" dirty="0">
                <a:solidFill>
                  <a:srgbClr val="6B7280"/>
                </a:solidFill>
                <a:latin typeface="Calibri"/>
              </a:rPr>
              <a:t>, </a:t>
            </a:r>
            <a:r>
              <a:rPr lang="en-US" sz="1800" i="1" dirty="0">
                <a:solidFill>
                  <a:srgbClr val="6B7280"/>
                </a:solidFill>
                <a:latin typeface="Calibri"/>
              </a:rPr>
              <a:t>Mohammed Murtada - 202152970</a:t>
            </a:r>
            <a:endParaRPr sz="1800" i="1" dirty="0">
              <a:solidFill>
                <a:srgbClr val="6B7280"/>
              </a:solidFill>
              <a:latin typeface="Calibri"/>
            </a:endParaRPr>
          </a:p>
        </p:txBody>
      </p:sp>
      <p:sp>
        <p:nvSpPr>
          <p:cNvPr id="9" name="TextBox 8"/>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10" name="TextBox 9"/>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 / 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S02  ·  Agenda</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00:00 Intro &amp; background (S1–S6)</a:t>
            </a:r>
          </a:p>
          <a:p>
            <a:pPr>
              <a:spcAft>
                <a:spcPts val="800"/>
              </a:spcAft>
            </a:pPr>
            <a:r>
              <a:rPr sz="2200">
                <a:solidFill>
                  <a:srgbClr val="1A1A1A"/>
                </a:solidFill>
                <a:latin typeface="Calibri"/>
              </a:rPr>
              <a:t>•  03:30 Data abstraction — variables, types, conversions (S7–S11)</a:t>
            </a:r>
          </a:p>
          <a:p>
            <a:pPr>
              <a:spcAft>
                <a:spcPts val="800"/>
              </a:spcAft>
            </a:pPr>
            <a:r>
              <a:rPr sz="2200">
                <a:solidFill>
                  <a:srgbClr val="1A1A1A"/>
                </a:solidFill>
                <a:latin typeface="Calibri"/>
              </a:rPr>
              <a:t>•  09:00 Control abstraction — conditionals, loops, functions (S12–S16)</a:t>
            </a:r>
          </a:p>
          <a:p>
            <a:pPr>
              <a:spcAft>
                <a:spcPts val="800"/>
              </a:spcAft>
            </a:pPr>
            <a:r>
              <a:rPr sz="2200">
                <a:solidFill>
                  <a:srgbClr val="1A1A1A"/>
                </a:solidFill>
                <a:latin typeface="Calibri"/>
              </a:rPr>
              <a:t>•  14:00 Paradigms — OOP and functional Dart (S17–S22)</a:t>
            </a:r>
          </a:p>
          <a:p>
            <a:pPr>
              <a:spcAft>
                <a:spcPts val="800"/>
              </a:spcAft>
            </a:pPr>
            <a:r>
              <a:rPr sz="2200">
                <a:solidFill>
                  <a:srgbClr val="1A1A1A"/>
                </a:solidFill>
                <a:latin typeface="Calibri"/>
              </a:rPr>
              <a:t>•  21:00 Modern features — null safety, async, mixins, records, extensions (S23–S27)</a:t>
            </a:r>
          </a:p>
          <a:p>
            <a:pPr>
              <a:spcAft>
                <a:spcPts val="800"/>
              </a:spcAft>
            </a:pPr>
            <a:r>
              <a:rPr sz="2200">
                <a:solidFill>
                  <a:srgbClr val="1A1A1A"/>
                </a:solidFill>
                <a:latin typeface="Calibri"/>
              </a:rPr>
              <a:t>•  26:00 Quiz — seven questions, easy to hard (S28–S34)</a:t>
            </a:r>
          </a:p>
          <a:p>
            <a:pPr>
              <a:spcAft>
                <a:spcPts val="800"/>
              </a:spcAft>
            </a:pPr>
            <a:r>
              <a:rPr sz="2200">
                <a:solidFill>
                  <a:srgbClr val="1A1A1A"/>
                </a:solidFill>
                <a:latin typeface="Calibri"/>
              </a:rPr>
              <a:t>•  29:30 References &amp; wrap-up (S35)</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 / 41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S03  ·  What is Dart</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Created by Google, first released in 2011</a:t>
            </a:r>
          </a:p>
          <a:p>
            <a:pPr>
              <a:spcAft>
                <a:spcPts val="800"/>
              </a:spcAft>
            </a:pPr>
            <a:r>
              <a:rPr sz="1800">
                <a:solidFill>
                  <a:srgbClr val="1A1A1A"/>
                </a:solidFill>
                <a:latin typeface="Calibri"/>
              </a:rPr>
              <a:t>•  Designed by Lars Bak and Kasper Lund (V8 alumni)</a:t>
            </a:r>
          </a:p>
          <a:p>
            <a:pPr>
              <a:spcAft>
                <a:spcPts val="800"/>
              </a:spcAft>
            </a:pPr>
            <a:r>
              <a:rPr sz="1800">
                <a:solidFill>
                  <a:srgbClr val="1A1A1A"/>
                </a:solidFill>
                <a:latin typeface="Calibri"/>
              </a:rPr>
              <a:t>•  Modern, statically typed, multi-paradigm</a:t>
            </a:r>
          </a:p>
          <a:p>
            <a:pPr>
              <a:spcAft>
                <a:spcPts val="800"/>
              </a:spcAft>
            </a:pPr>
            <a:r>
              <a:rPr sz="1800">
                <a:solidFill>
                  <a:srgbClr val="1A1A1A"/>
                </a:solidFill>
                <a:latin typeface="Calibri"/>
              </a:rPr>
              <a:t>•  Open source under a BSD license (permissive open-source license)</a:t>
            </a:r>
          </a:p>
          <a:p>
            <a:pPr>
              <a:spcAft>
                <a:spcPts val="800"/>
              </a:spcAft>
            </a:pPr>
            <a:r>
              <a:rPr sz="1800">
                <a:solidFill>
                  <a:srgbClr val="1A1A1A"/>
                </a:solidFill>
                <a:latin typeface="Calibri"/>
              </a:rPr>
              <a:t>•  Two compile modes: AOT (native binaries) and JIT (hot reload)</a:t>
            </a:r>
          </a:p>
          <a:p>
            <a:pPr>
              <a:spcAft>
                <a:spcPts val="800"/>
              </a:spcAft>
            </a:pPr>
            <a:r>
              <a:rPr sz="1800">
                <a:solidFill>
                  <a:srgbClr val="1A1A1A"/>
                </a:solidFill>
                <a:latin typeface="Calibri"/>
              </a:rPr>
              <a:t>•  Best known as the language behind Flutter</a:t>
            </a:r>
          </a:p>
        </p:txBody>
      </p:sp>
      <p:pic>
        <p:nvPicPr>
          <p:cNvPr id="5" name="Picture 4" descr="diagram_01.png"/>
          <p:cNvPicPr>
            <a:picLocks noChangeAspect="1"/>
          </p:cNvPicPr>
          <p:nvPr/>
        </p:nvPicPr>
        <p:blipFill>
          <a:blip r:embed="rId3"/>
          <a:stretch>
            <a:fillRect/>
          </a:stretch>
        </p:blipFill>
        <p:spPr>
          <a:xfrm>
            <a:off x="838047" y="3520440"/>
            <a:ext cx="10515600" cy="2533007"/>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 / 41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S04  ·  Why Dart</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Mobile: Flutter on iOS and Android with one codebase</a:t>
            </a:r>
          </a:p>
          <a:p>
            <a:pPr>
              <a:spcAft>
                <a:spcPts val="800"/>
              </a:spcAft>
            </a:pPr>
            <a:r>
              <a:rPr sz="2200">
                <a:solidFill>
                  <a:srgbClr val="1A1A1A"/>
                </a:solidFill>
                <a:latin typeface="Calibri"/>
              </a:rPr>
              <a:t>•  Web: compiles to JavaScript or WebAssembly</a:t>
            </a:r>
          </a:p>
          <a:p>
            <a:pPr>
              <a:spcAft>
                <a:spcPts val="800"/>
              </a:spcAft>
            </a:pPr>
            <a:r>
              <a:rPr sz="2200">
                <a:solidFill>
                  <a:srgbClr val="1A1A1A"/>
                </a:solidFill>
                <a:latin typeface="Calibri"/>
              </a:rPr>
              <a:t>•  Server: REST and gRPC (Google's fast RPC protocol) backends with Shelf, Dart Frog, Serverpod</a:t>
            </a:r>
          </a:p>
          <a:p>
            <a:pPr>
              <a:spcAft>
                <a:spcPts val="800"/>
              </a:spcAft>
            </a:pPr>
            <a:r>
              <a:rPr sz="2200">
                <a:solidFill>
                  <a:srgbClr val="1A1A1A"/>
                </a:solidFill>
                <a:latin typeface="Calibri"/>
              </a:rPr>
              <a:t>•  CLI: scripts and tools that compile to a single native binary</a:t>
            </a:r>
          </a:p>
          <a:p>
            <a:pPr>
              <a:spcAft>
                <a:spcPts val="800"/>
              </a:spcAft>
            </a:pPr>
            <a:r>
              <a:rPr sz="2200">
                <a:solidFill>
                  <a:srgbClr val="1A1A1A"/>
                </a:solidFill>
                <a:latin typeface="Calibri"/>
              </a:rPr>
              <a:t>•  Strengths: sound null safety, hot reload, strong tooling</a:t>
            </a:r>
          </a:p>
          <a:p>
            <a:pPr>
              <a:spcAft>
                <a:spcPts val="800"/>
              </a:spcAft>
            </a:pPr>
            <a:r>
              <a:rPr sz="2200">
                <a:solidFill>
                  <a:srgbClr val="1A1A1A"/>
                </a:solidFill>
                <a:latin typeface="Calibri"/>
              </a:rPr>
              <a:t>•  Audience: students, mobile devs, full-stack engineers, scripters</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4 / 41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S05  ·  Installation</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macOS: `brew tap dart-lang/dart &amp;&amp; brew install dart`</a:t>
            </a:r>
          </a:p>
          <a:p>
            <a:pPr>
              <a:spcAft>
                <a:spcPts val="800"/>
              </a:spcAft>
            </a:pPr>
            <a:r>
              <a:rPr sz="2200">
                <a:solidFill>
                  <a:srgbClr val="1A1A1A"/>
                </a:solidFill>
                <a:latin typeface="Calibri"/>
              </a:rPr>
              <a:t>•  Windows: `choco install dart-sdk` or download MSI installer</a:t>
            </a:r>
          </a:p>
          <a:p>
            <a:pPr>
              <a:spcAft>
                <a:spcPts val="800"/>
              </a:spcAft>
            </a:pPr>
            <a:r>
              <a:rPr sz="2200">
                <a:solidFill>
                  <a:srgbClr val="1A1A1A"/>
                </a:solidFill>
                <a:latin typeface="Calibri"/>
              </a:rPr>
              <a:t>•  Linux: `sudo apt install dart` after adding the Google APT repo</a:t>
            </a:r>
          </a:p>
          <a:p>
            <a:pPr>
              <a:spcAft>
                <a:spcPts val="800"/>
              </a:spcAft>
            </a:pPr>
            <a:r>
              <a:rPr sz="2200">
                <a:solidFill>
                  <a:srgbClr val="1A1A1A"/>
                </a:solidFill>
                <a:latin typeface="Calibri"/>
              </a:rPr>
              <a:t>•  Verify: `dart --version`</a:t>
            </a:r>
          </a:p>
          <a:p>
            <a:pPr>
              <a:spcAft>
                <a:spcPts val="800"/>
              </a:spcAft>
            </a:pPr>
            <a:r>
              <a:rPr sz="2200">
                <a:solidFill>
                  <a:srgbClr val="1A1A1A"/>
                </a:solidFill>
                <a:latin typeface="Calibri"/>
              </a:rPr>
              <a:t>•  Or install Flutter SDK — it bundles Dart automatically</a:t>
            </a:r>
          </a:p>
          <a:p>
            <a:pPr>
              <a:spcAft>
                <a:spcPts val="800"/>
              </a:spcAft>
            </a:pPr>
            <a:r>
              <a:rPr sz="2200">
                <a:solidFill>
                  <a:srgbClr val="1A1A1A"/>
                </a:solidFill>
                <a:latin typeface="Calibri"/>
              </a:rPr>
              <a:t>•  Pin per project with FVM (Flutter Version Manager) — optional, advanced</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5 / 41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S06  ·  IDEs &amp; Tooling</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VS Code with the official Dart extension</a:t>
            </a:r>
          </a:p>
          <a:p>
            <a:pPr>
              <a:spcAft>
                <a:spcPts val="800"/>
              </a:spcAft>
            </a:pPr>
            <a:r>
              <a:rPr sz="2200">
                <a:solidFill>
                  <a:srgbClr val="1A1A1A"/>
                </a:solidFill>
                <a:latin typeface="Calibri"/>
              </a:rPr>
              <a:t>•  IntelliJ IDEA or Android Studio with Dart and Flutter plugins</a:t>
            </a:r>
          </a:p>
          <a:p>
            <a:pPr>
              <a:spcAft>
                <a:spcPts val="800"/>
              </a:spcAft>
            </a:pPr>
            <a:r>
              <a:rPr sz="2200">
                <a:solidFill>
                  <a:srgbClr val="1A1A1A"/>
                </a:solidFill>
                <a:latin typeface="Calibri"/>
              </a:rPr>
              <a:t>•  DartPad — zero-install browser playground at `dartpad.dev`</a:t>
            </a:r>
          </a:p>
          <a:p>
            <a:pPr>
              <a:spcAft>
                <a:spcPts val="800"/>
              </a:spcAft>
            </a:pPr>
            <a:r>
              <a:rPr sz="2200">
                <a:solidFill>
                  <a:srgbClr val="1A1A1A"/>
                </a:solidFill>
                <a:latin typeface="Calibri"/>
              </a:rPr>
              <a:t>•  Built-in: `dart format`, `dart analyze`, `dart test`, `dart run`</a:t>
            </a:r>
          </a:p>
          <a:p>
            <a:pPr>
              <a:spcAft>
                <a:spcPts val="800"/>
              </a:spcAft>
            </a:pPr>
            <a:r>
              <a:rPr sz="2200">
                <a:solidFill>
                  <a:srgbClr val="1A1A1A"/>
                </a:solidFill>
                <a:latin typeface="Calibri"/>
              </a:rPr>
              <a:t>•  Package manager: `dart pub`, registry at `pub.dev`</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6 / 41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Part 1</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Data Abstraction</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7 / 41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S07  ·  Data Abstraction Overview</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"Data abstraction" — how a language lets you name and shape values</a:t>
            </a:r>
          </a:p>
          <a:p>
            <a:pPr>
              <a:spcAft>
                <a:spcPts val="800"/>
              </a:spcAft>
            </a:pPr>
            <a:r>
              <a:rPr sz="2200">
                <a:solidFill>
                  <a:srgbClr val="1A1A1A"/>
                </a:solidFill>
                <a:latin typeface="Calibri"/>
              </a:rPr>
              <a:t>•  We will cover:</a:t>
            </a:r>
          </a:p>
          <a:p>
            <a:pPr>
              <a:spcAft>
                <a:spcPts val="800"/>
              </a:spcAft>
            </a:pPr>
            <a:r>
              <a:rPr sz="2200">
                <a:solidFill>
                  <a:srgbClr val="1A1A1A"/>
                </a:solidFill>
                <a:latin typeface="Calibri"/>
              </a:rPr>
              <a:t>•  Variables and scope rules</a:t>
            </a:r>
          </a:p>
          <a:p>
            <a:pPr>
              <a:spcAft>
                <a:spcPts val="800"/>
              </a:spcAft>
            </a:pPr>
            <a:r>
              <a:rPr sz="2200">
                <a:solidFill>
                  <a:srgbClr val="1A1A1A"/>
                </a:solidFill>
                <a:latin typeface="Calibri"/>
              </a:rPr>
              <a:t>•  Primitive types and arithmetic</a:t>
            </a:r>
          </a:p>
          <a:p>
            <a:pPr>
              <a:spcAft>
                <a:spcPts val="800"/>
              </a:spcAft>
            </a:pPr>
            <a:r>
              <a:rPr sz="2200">
                <a:solidFill>
                  <a:srgbClr val="1A1A1A"/>
                </a:solidFill>
                <a:latin typeface="Calibri"/>
              </a:rPr>
              <a:t>•  Type conversion between values</a:t>
            </a:r>
          </a:p>
          <a:p>
            <a:pPr>
              <a:spcAft>
                <a:spcPts val="800"/>
              </a:spcAft>
            </a:pPr>
            <a:r>
              <a:rPr sz="2200">
                <a:solidFill>
                  <a:srgbClr val="1A1A1A"/>
                </a:solidFill>
                <a:latin typeface="Calibri"/>
              </a:rPr>
              <a:t>•  Advanced collection types and generics</a:t>
            </a:r>
          </a:p>
          <a:p>
            <a:pPr>
              <a:spcAft>
                <a:spcPts val="800"/>
              </a:spcAft>
            </a:pPr>
            <a:r>
              <a:rPr sz="2200">
                <a:solidFill>
                  <a:srgbClr val="1A1A1A"/>
                </a:solidFill>
                <a:latin typeface="Calibri"/>
              </a:rPr>
              <a:t>•  Goal: model data confidently in Dart by the end of this section</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8 / 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S08  ·  Variables &amp; Scope</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`var x = 10;` — type inferred, can be reassigned</a:t>
            </a:r>
          </a:p>
          <a:p>
            <a:pPr>
              <a:spcAft>
                <a:spcPts val="800"/>
              </a:spcAft>
            </a:pPr>
            <a:r>
              <a:rPr sz="1800">
                <a:solidFill>
                  <a:srgbClr val="1A1A1A"/>
                </a:solidFill>
                <a:latin typeface="Calibri"/>
              </a:rPr>
              <a:t>•  `final name = 'Ada';` — set once at runtime</a:t>
            </a:r>
          </a:p>
          <a:p>
            <a:pPr>
              <a:spcAft>
                <a:spcPts val="800"/>
              </a:spcAft>
            </a:pPr>
            <a:r>
              <a:rPr sz="1800">
                <a:solidFill>
                  <a:srgbClr val="1A1A1A"/>
                </a:solidFill>
                <a:latin typeface="Calibri"/>
              </a:rPr>
              <a:t>•  `const PI = 3.14;` — compile-time constant</a:t>
            </a:r>
          </a:p>
          <a:p>
            <a:pPr>
              <a:spcAft>
                <a:spcPts val="800"/>
              </a:spcAft>
            </a:pPr>
            <a:r>
              <a:rPr sz="1800">
                <a:solidFill>
                  <a:srgbClr val="1A1A1A"/>
                </a:solidFill>
                <a:latin typeface="Calibri"/>
              </a:rPr>
              <a:t>•  `late String token;` — promise to assign before use</a:t>
            </a:r>
          </a:p>
          <a:p>
            <a:pPr>
              <a:spcAft>
                <a:spcPts val="800"/>
              </a:spcAft>
            </a:pPr>
            <a:r>
              <a:rPr sz="1800">
                <a:solidFill>
                  <a:srgbClr val="1A1A1A"/>
                </a:solidFill>
                <a:latin typeface="Calibri"/>
              </a:rPr>
              <a:t>•  `dynamic anything;` — opt out of static typing (use sparingly)</a:t>
            </a:r>
          </a:p>
          <a:p>
            <a:pPr>
              <a:spcAft>
                <a:spcPts val="800"/>
              </a:spcAft>
            </a:pPr>
            <a:r>
              <a:rPr sz="1800">
                <a:solidFill>
                  <a:srgbClr val="1A1A1A"/>
                </a:solidFill>
                <a:latin typeface="Calibri"/>
              </a:rPr>
              <a:t>•  Scope is **lexical** — visible inside the curly-brace block</a:t>
            </a:r>
          </a:p>
        </p:txBody>
      </p:sp>
      <p:pic>
        <p:nvPicPr>
          <p:cNvPr id="5" name="Picture 4" descr="diagram_03.png"/>
          <p:cNvPicPr>
            <a:picLocks noChangeAspect="1"/>
          </p:cNvPicPr>
          <p:nvPr/>
        </p:nvPicPr>
        <p:blipFill>
          <a:blip r:embed="rId3"/>
          <a:stretch>
            <a:fillRect/>
          </a:stretch>
        </p:blipFill>
        <p:spPr>
          <a:xfrm>
            <a:off x="5601642" y="3520440"/>
            <a:ext cx="988411"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9 / 41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S09  ·  Primitive Types &amp; Arithmetic</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`int` — whole numbers (64-bit on native)</a:t>
            </a:r>
          </a:p>
          <a:p>
            <a:pPr>
              <a:spcAft>
                <a:spcPts val="800"/>
              </a:spcAft>
            </a:pPr>
            <a:r>
              <a:rPr sz="1800">
                <a:solidFill>
                  <a:srgbClr val="1A1A1A"/>
                </a:solidFill>
                <a:latin typeface="Calibri"/>
              </a:rPr>
              <a:t>•  `double` — IEEE-754 floats (64-bit)</a:t>
            </a:r>
          </a:p>
          <a:p>
            <a:pPr>
              <a:spcAft>
                <a:spcPts val="800"/>
              </a:spcAft>
            </a:pPr>
            <a:r>
              <a:rPr sz="1800">
                <a:solidFill>
                  <a:srgbClr val="1A1A1A"/>
                </a:solidFill>
                <a:latin typeface="Calibri"/>
              </a:rPr>
              <a:t>•  `num` — supertype of `int` and `double`</a:t>
            </a:r>
          </a:p>
          <a:p>
            <a:pPr>
              <a:spcAft>
                <a:spcPts val="800"/>
              </a:spcAft>
            </a:pPr>
            <a:r>
              <a:rPr sz="1800">
                <a:solidFill>
                  <a:srgbClr val="1A1A1A"/>
                </a:solidFill>
                <a:latin typeface="Calibri"/>
              </a:rPr>
              <a:t>•  `bool` — strictly `true` or `false`, no truthiness</a:t>
            </a:r>
          </a:p>
          <a:p>
            <a:pPr>
              <a:spcAft>
                <a:spcPts val="800"/>
              </a:spcAft>
            </a:pPr>
            <a:r>
              <a:rPr sz="1800">
                <a:solidFill>
                  <a:srgbClr val="1A1A1A"/>
                </a:solidFill>
                <a:latin typeface="Calibri"/>
              </a:rPr>
              <a:t>•  `String` — UTF-16, single or double quotes, `${expr}` interpolation</a:t>
            </a:r>
          </a:p>
          <a:p>
            <a:pPr>
              <a:spcAft>
                <a:spcPts val="800"/>
              </a:spcAft>
            </a:pPr>
            <a:r>
              <a:rPr sz="1800">
                <a:solidFill>
                  <a:srgbClr val="1A1A1A"/>
                </a:solidFill>
                <a:latin typeface="Calibri"/>
              </a:rPr>
              <a:t>•  Operators: `+ - * / % ~/` — note `~/` is integer division</a:t>
            </a:r>
          </a:p>
        </p:txBody>
      </p:sp>
      <p:pic>
        <p:nvPicPr>
          <p:cNvPr id="5" name="Picture 4" descr="diagram_02.png"/>
          <p:cNvPicPr>
            <a:picLocks noChangeAspect="1"/>
          </p:cNvPicPr>
          <p:nvPr/>
        </p:nvPicPr>
        <p:blipFill>
          <a:blip r:embed="rId3"/>
          <a:stretch>
            <a:fillRect/>
          </a:stretch>
        </p:blipFill>
        <p:spPr>
          <a:xfrm>
            <a:off x="2745978" y="3520440"/>
            <a:ext cx="6699738"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10 / 41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S10  ·  Type Conversion</a:t>
            </a:r>
          </a:p>
        </p:txBody>
      </p:sp>
      <p:sp>
        <p:nvSpPr>
          <p:cNvPr id="4" name="TextBox 3"/>
          <p:cNvSpPr txBox="1"/>
          <p:nvPr/>
        </p:nvSpPr>
        <p:spPr>
          <a:xfrm>
            <a:off x="548640" y="1188720"/>
            <a:ext cx="11064240" cy="2377440"/>
          </a:xfrm>
          <a:prstGeom prst="rect">
            <a:avLst/>
          </a:prstGeom>
          <a:noFill/>
        </p:spPr>
        <p:txBody>
          <a:bodyPr wrap="square">
            <a:spAutoFit/>
          </a:bodyPr>
          <a:lstStyle/>
          <a:p>
            <a:pPr>
              <a:spcAft>
                <a:spcPts val="800"/>
              </a:spcAft>
            </a:pPr>
            <a:r>
              <a:rPr sz="1800">
                <a:solidFill>
                  <a:srgbClr val="1A1A1A"/>
                </a:solidFill>
                <a:latin typeface="Calibri"/>
              </a:rPr>
              <a:t>•  String to number: `int.parse('42')`, `double.parse('3.14')`</a:t>
            </a:r>
          </a:p>
          <a:p>
            <a:pPr>
              <a:spcAft>
                <a:spcPts val="800"/>
              </a:spcAft>
            </a:pPr>
            <a:r>
              <a:rPr sz="1800">
                <a:solidFill>
                  <a:srgbClr val="1A1A1A"/>
                </a:solidFill>
                <a:latin typeface="Calibri"/>
              </a:rPr>
              <a:t>•  Safe parse: `int.tryParse('foo')` returns `null` instead of throwing</a:t>
            </a:r>
          </a:p>
          <a:p>
            <a:pPr>
              <a:spcAft>
                <a:spcPts val="800"/>
              </a:spcAft>
            </a:pPr>
            <a:r>
              <a:rPr sz="1800">
                <a:solidFill>
                  <a:srgbClr val="1A1A1A"/>
                </a:solidFill>
                <a:latin typeface="Calibri"/>
              </a:rPr>
              <a:t>•  Number to String: `42.toString()` or `'$n'`</a:t>
            </a:r>
          </a:p>
          <a:p>
            <a:pPr>
              <a:spcAft>
                <a:spcPts val="800"/>
              </a:spcAft>
            </a:pPr>
            <a:r>
              <a:rPr sz="1800">
                <a:solidFill>
                  <a:srgbClr val="1A1A1A"/>
                </a:solidFill>
                <a:latin typeface="Calibri"/>
              </a:rPr>
              <a:t>•  Cast: `obj as Animal` — runtime check, throws on mismatch</a:t>
            </a:r>
          </a:p>
          <a:p>
            <a:pPr>
              <a:spcAft>
                <a:spcPts val="800"/>
              </a:spcAft>
            </a:pPr>
            <a:r>
              <a:rPr sz="1800">
                <a:solidFill>
                  <a:srgbClr val="1A1A1A"/>
                </a:solidFill>
                <a:latin typeface="Calibri"/>
              </a:rPr>
              <a:t>•  Test: `obj is Animal` (and `obj is! Animal`)</a:t>
            </a:r>
          </a:p>
          <a:p>
            <a:pPr>
              <a:spcAft>
                <a:spcPts val="800"/>
              </a:spcAft>
            </a:pPr>
            <a:r>
              <a:rPr sz="1800">
                <a:solidFill>
                  <a:srgbClr val="1A1A1A"/>
                </a:solidFill>
                <a:latin typeface="Calibri"/>
              </a:rPr>
              <a:t>•  Type promotion inside `is` checks</a:t>
            </a:r>
          </a:p>
        </p:txBody>
      </p:sp>
      <p:sp>
        <p:nvSpPr>
          <p:cNvPr id="5" name="Rounded Rectangle 4"/>
          <p:cNvSpPr/>
          <p:nvPr/>
        </p:nvSpPr>
        <p:spPr>
          <a:xfrm>
            <a:off x="640080" y="3749039"/>
            <a:ext cx="10881360" cy="2468880"/>
          </a:xfrm>
          <a:prstGeom prst="roundRect">
            <a:avLst/>
          </a:prstGeom>
          <a:solidFill>
            <a:srgbClr val="F6F8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3858768"/>
            <a:ext cx="10552176" cy="2249424"/>
          </a:xfrm>
          <a:prstGeom prst="rect">
            <a:avLst/>
          </a:prstGeom>
          <a:noFill/>
        </p:spPr>
        <p:txBody>
          <a:bodyPr wrap="none">
            <a:spAutoFit/>
          </a:bodyPr>
          <a:lstStyle/>
          <a:p>
            <a:pPr algn="l">
              <a:spcAft>
                <a:spcPts val="0"/>
              </a:spcAft>
            </a:pPr>
            <a:r>
              <a:rPr sz="1400">
                <a:solidFill>
                  <a:srgbClr val="0766C2"/>
                </a:solidFill>
                <a:latin typeface="Menlo"/>
              </a:rPr>
              <a:t>final</a:t>
            </a:r>
            <a:r>
              <a:rPr sz="1400">
                <a:solidFill>
                  <a:srgbClr val="24292E"/>
                </a:solidFill>
                <a:latin typeface="Menlo"/>
              </a:rPr>
              <a:t> n </a:t>
            </a:r>
            <a:r>
              <a:rPr sz="1400">
                <a:solidFill>
                  <a:srgbClr val="4A4A4A"/>
                </a:solidFill>
                <a:latin typeface="Menlo"/>
              </a:rPr>
              <a:t>=</a:t>
            </a:r>
            <a:r>
              <a:rPr sz="1400">
                <a:solidFill>
                  <a:srgbClr val="24292E"/>
                </a:solidFill>
                <a:latin typeface="Menlo"/>
              </a:rPr>
              <a:t> </a:t>
            </a:r>
            <a:r>
              <a:rPr sz="1400">
                <a:solidFill>
                  <a:srgbClr val="0766C2"/>
                </a:solidFill>
                <a:latin typeface="Menlo"/>
              </a:rPr>
              <a:t>int</a:t>
            </a:r>
            <a:r>
              <a:rPr sz="1400">
                <a:solidFill>
                  <a:srgbClr val="4A4A4A"/>
                </a:solidFill>
                <a:latin typeface="Menlo"/>
              </a:rPr>
              <a:t>.</a:t>
            </a:r>
            <a:r>
              <a:rPr sz="1400">
                <a:solidFill>
                  <a:srgbClr val="24292E"/>
                </a:solidFill>
                <a:latin typeface="Menlo"/>
              </a:rPr>
              <a:t>parse</a:t>
            </a:r>
            <a:r>
              <a:rPr sz="1400">
                <a:solidFill>
                  <a:srgbClr val="4A4A4A"/>
                </a:solidFill>
                <a:latin typeface="Menlo"/>
              </a:rPr>
              <a:t>(</a:t>
            </a:r>
            <a:r>
              <a:rPr sz="1400">
                <a:solidFill>
                  <a:srgbClr val="038837"/>
                </a:solidFill>
                <a:latin typeface="Menlo"/>
              </a:rPr>
              <a:t>'42'</a:t>
            </a:r>
            <a:r>
              <a:rPr sz="1400">
                <a:solidFill>
                  <a:srgbClr val="4A4A4A"/>
                </a:solidFill>
                <a:latin typeface="Menlo"/>
              </a:rPr>
              <a:t>);</a:t>
            </a:r>
          </a:p>
          <a:p>
            <a:pPr algn="l">
              <a:spcAft>
                <a:spcPts val="0"/>
              </a:spcAft>
            </a:pPr>
            <a:r>
              <a:rPr sz="1400">
                <a:solidFill>
                  <a:srgbClr val="0766C2"/>
                </a:solidFill>
                <a:latin typeface="Menlo"/>
              </a:rPr>
              <a:t>if</a:t>
            </a:r>
            <a:r>
              <a:rPr sz="1400">
                <a:solidFill>
                  <a:srgbClr val="24292E"/>
                </a:solidFill>
                <a:latin typeface="Menlo"/>
              </a:rPr>
              <a:t> </a:t>
            </a:r>
            <a:r>
              <a:rPr sz="1400">
                <a:solidFill>
                  <a:srgbClr val="4A4A4A"/>
                </a:solidFill>
                <a:latin typeface="Menlo"/>
              </a:rPr>
              <a:t>(</a:t>
            </a:r>
            <a:r>
              <a:rPr sz="1400">
                <a:solidFill>
                  <a:srgbClr val="24292E"/>
                </a:solidFill>
                <a:latin typeface="Menlo"/>
              </a:rPr>
              <a:t>animal </a:t>
            </a:r>
            <a:r>
              <a:rPr sz="1400">
                <a:solidFill>
                  <a:srgbClr val="0766C2"/>
                </a:solidFill>
                <a:latin typeface="Menlo"/>
              </a:rPr>
              <a:t>is</a:t>
            </a:r>
            <a:r>
              <a:rPr sz="1400">
                <a:solidFill>
                  <a:srgbClr val="24292E"/>
                </a:solidFill>
                <a:latin typeface="Menlo"/>
              </a:rPr>
              <a:t> Dog</a:t>
            </a:r>
            <a:r>
              <a:rPr sz="1400">
                <a:solidFill>
                  <a:srgbClr val="4A4A4A"/>
                </a:solidFill>
                <a:latin typeface="Menlo"/>
              </a:rPr>
              <a:t>)</a:t>
            </a:r>
            <a:r>
              <a:rPr sz="1400">
                <a:solidFill>
                  <a:srgbClr val="24292E"/>
                </a:solidFill>
                <a:latin typeface="Menlo"/>
              </a:rPr>
              <a:t> animal</a:t>
            </a:r>
            <a:r>
              <a:rPr sz="1400">
                <a:solidFill>
                  <a:srgbClr val="4A4A4A"/>
                </a:solidFill>
                <a:latin typeface="Menlo"/>
              </a:rPr>
              <a:t>.</a:t>
            </a:r>
            <a:r>
              <a:rPr sz="1400">
                <a:solidFill>
                  <a:srgbClr val="24292E"/>
                </a:solidFill>
                <a:latin typeface="Menlo"/>
              </a:rPr>
              <a:t>bark</a:t>
            </a:r>
            <a:r>
              <a:rPr sz="1400">
                <a:solidFill>
                  <a:srgbClr val="4A4A4A"/>
                </a:solidFill>
                <a:latin typeface="Menlo"/>
              </a:rPr>
              <a:t>();</a:t>
            </a:r>
            <a:r>
              <a:rPr sz="1400">
                <a:solidFill>
                  <a:srgbClr val="24292E"/>
                </a:solidFill>
                <a:latin typeface="Menlo"/>
              </a:rPr>
              <a:t> </a:t>
            </a:r>
            <a:r>
              <a:rPr sz="1400">
                <a:solidFill>
                  <a:srgbClr val="6A737D"/>
                </a:solidFill>
                <a:latin typeface="Menlo"/>
              </a:rPr>
              <a:t>// type-promoted!</a:t>
            </a:r>
          </a:p>
        </p:txBody>
      </p:sp>
      <p:sp>
        <p:nvSpPr>
          <p:cNvPr id="7" name="TextBox 6"/>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8" name="TextBox 7"/>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11 / 41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S11  ·  Advanced Types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`List&lt;int&gt;` — ordered, indexable, growable by default</a:t>
            </a:r>
          </a:p>
          <a:p>
            <a:pPr>
              <a:spcAft>
                <a:spcPts val="800"/>
              </a:spcAft>
            </a:pPr>
            <a:r>
              <a:rPr sz="1800">
                <a:solidFill>
                  <a:srgbClr val="1A1A1A"/>
                </a:solidFill>
                <a:latin typeface="Calibri"/>
              </a:rPr>
              <a:t>•  `Set&lt;String&gt;` — unordered, no duplicates</a:t>
            </a:r>
          </a:p>
          <a:p>
            <a:pPr>
              <a:spcAft>
                <a:spcPts val="800"/>
              </a:spcAft>
            </a:pPr>
            <a:r>
              <a:rPr sz="1800">
                <a:solidFill>
                  <a:srgbClr val="1A1A1A"/>
                </a:solidFill>
                <a:latin typeface="Calibri"/>
              </a:rPr>
              <a:t>•  `Map&lt;String, int&gt;` — key-value pairs</a:t>
            </a:r>
          </a:p>
          <a:p>
            <a:pPr>
              <a:spcAft>
                <a:spcPts val="800"/>
              </a:spcAft>
            </a:pPr>
            <a:r>
              <a:rPr sz="1800">
                <a:solidFill>
                  <a:srgbClr val="1A1A1A"/>
                </a:solidFill>
                <a:latin typeface="Calibri"/>
              </a:rPr>
              <a:t>•  Generics: `class Box&lt;T&gt; { T value; }` — one class, many element types</a:t>
            </a:r>
          </a:p>
          <a:p>
            <a:pPr>
              <a:spcAft>
                <a:spcPts val="800"/>
              </a:spcAft>
            </a:pPr>
            <a:r>
              <a:rPr sz="1800">
                <a:solidFill>
                  <a:srgbClr val="1A1A1A"/>
                </a:solidFill>
                <a:latin typeface="Calibri"/>
              </a:rPr>
              <a:t>•  Records (Dart 3): `(int, String) row = (1, 'Ada');` — lightweight tuples</a:t>
            </a:r>
          </a:p>
        </p:txBody>
      </p:sp>
      <p:pic>
        <p:nvPicPr>
          <p:cNvPr id="5" name="Picture 4" descr="diagram_02.png"/>
          <p:cNvPicPr>
            <a:picLocks noChangeAspect="1"/>
          </p:cNvPicPr>
          <p:nvPr/>
        </p:nvPicPr>
        <p:blipFill>
          <a:blip r:embed="rId3"/>
          <a:stretch>
            <a:fillRect/>
          </a:stretch>
        </p:blipFill>
        <p:spPr>
          <a:xfrm>
            <a:off x="2745978" y="3520440"/>
            <a:ext cx="6699738"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12 / 41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Part 2</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Control Abstraction</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13 / 41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S12  ·  Control Abstraction Overview</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"Control abstraction" — how a language directs execution flow</a:t>
            </a:r>
          </a:p>
          <a:p>
            <a:pPr>
              <a:spcAft>
                <a:spcPts val="800"/>
              </a:spcAft>
            </a:pPr>
            <a:r>
              <a:rPr sz="2200">
                <a:solidFill>
                  <a:srgbClr val="1A1A1A"/>
                </a:solidFill>
                <a:latin typeface="Calibri"/>
              </a:rPr>
              <a:t>•  Coming up:</a:t>
            </a:r>
          </a:p>
          <a:p>
            <a:pPr>
              <a:spcAft>
                <a:spcPts val="800"/>
              </a:spcAft>
            </a:pPr>
            <a:r>
              <a:rPr sz="2200">
                <a:solidFill>
                  <a:srgbClr val="1A1A1A"/>
                </a:solidFill>
                <a:latin typeface="Calibri"/>
              </a:rPr>
              <a:t>•  Conditionals — `if`, ternary, `??`, `switch`, patterns</a:t>
            </a:r>
          </a:p>
          <a:p>
            <a:pPr>
              <a:spcAft>
                <a:spcPts val="800"/>
              </a:spcAft>
            </a:pPr>
            <a:r>
              <a:rPr sz="2200">
                <a:solidFill>
                  <a:srgbClr val="1A1A1A"/>
                </a:solidFill>
                <a:latin typeface="Calibri"/>
              </a:rPr>
              <a:t>•  Loops — `for`, `while`, `do-while`, recursion</a:t>
            </a:r>
          </a:p>
          <a:p>
            <a:pPr>
              <a:spcAft>
                <a:spcPts val="800"/>
              </a:spcAft>
            </a:pPr>
            <a:r>
              <a:rPr sz="2200">
                <a:solidFill>
                  <a:srgbClr val="1A1A1A"/>
                </a:solidFill>
                <a:latin typeface="Calibri"/>
              </a:rPr>
              <a:t>•  Functions — first-class with named/optional parameters</a:t>
            </a:r>
          </a:p>
          <a:p>
            <a:pPr>
              <a:spcAft>
                <a:spcPts val="800"/>
              </a:spcAft>
            </a:pPr>
            <a:r>
              <a:rPr sz="2200">
                <a:solidFill>
                  <a:srgbClr val="1A1A1A"/>
                </a:solidFill>
                <a:latin typeface="Calibri"/>
              </a:rPr>
              <a:t>•  Pass semantics — what really happens when you pass an argument</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14 / 41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S13  ·  Conditionals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Classic `if / else if / else`</a:t>
            </a:r>
          </a:p>
          <a:p>
            <a:pPr>
              <a:spcAft>
                <a:spcPts val="800"/>
              </a:spcAft>
            </a:pPr>
            <a:r>
              <a:rPr sz="1800">
                <a:solidFill>
                  <a:srgbClr val="1A1A1A"/>
                </a:solidFill>
                <a:latin typeface="Calibri"/>
              </a:rPr>
              <a:t>•  Ternary: `cond ? a : b`</a:t>
            </a:r>
          </a:p>
          <a:p>
            <a:pPr>
              <a:spcAft>
                <a:spcPts val="800"/>
              </a:spcAft>
            </a:pPr>
            <a:r>
              <a:rPr sz="1800">
                <a:solidFill>
                  <a:srgbClr val="1A1A1A"/>
                </a:solidFill>
                <a:latin typeface="Calibri"/>
              </a:rPr>
              <a:t>•  Null-coalescing: `name ?? 'guest'` — fallback if left is null</a:t>
            </a:r>
          </a:p>
          <a:p>
            <a:pPr>
              <a:spcAft>
                <a:spcPts val="800"/>
              </a:spcAft>
            </a:pPr>
            <a:r>
              <a:rPr sz="1800">
                <a:solidFill>
                  <a:srgbClr val="1A1A1A"/>
                </a:solidFill>
                <a:latin typeface="Calibri"/>
              </a:rPr>
              <a:t>•  Switch statement and **switch expression** (Dart 3): returns a value</a:t>
            </a:r>
          </a:p>
          <a:p>
            <a:pPr>
              <a:spcAft>
                <a:spcPts val="800"/>
              </a:spcAft>
            </a:pPr>
            <a:r>
              <a:rPr sz="1800">
                <a:solidFill>
                  <a:srgbClr val="1A1A1A"/>
                </a:solidFill>
                <a:latin typeface="Calibri"/>
              </a:rPr>
              <a:t>•  Pattern matching: destructure inside `switch` and `if-case`</a:t>
            </a:r>
          </a:p>
        </p:txBody>
      </p:sp>
      <p:pic>
        <p:nvPicPr>
          <p:cNvPr id="5" name="Picture 4" descr="diagram_04.png"/>
          <p:cNvPicPr>
            <a:picLocks noChangeAspect="1"/>
          </p:cNvPicPr>
          <p:nvPr/>
        </p:nvPicPr>
        <p:blipFill>
          <a:blip r:embed="rId3"/>
          <a:stretch>
            <a:fillRect/>
          </a:stretch>
        </p:blipFill>
        <p:spPr>
          <a:xfrm>
            <a:off x="838047" y="3520440"/>
            <a:ext cx="10515600" cy="1931843"/>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15 / 41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S14  ·  Loops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Classic: `for (var i = 0; i &lt; 10; i++) { ... }`</a:t>
            </a:r>
          </a:p>
          <a:p>
            <a:pPr>
              <a:spcAft>
                <a:spcPts val="800"/>
              </a:spcAft>
            </a:pPr>
            <a:r>
              <a:rPr sz="1800">
                <a:solidFill>
                  <a:srgbClr val="1A1A1A"/>
                </a:solidFill>
                <a:latin typeface="Calibri"/>
              </a:rPr>
              <a:t>•  For-in over any `Iterable`: `for (final item in list)`</a:t>
            </a:r>
          </a:p>
          <a:p>
            <a:pPr>
              <a:spcAft>
                <a:spcPts val="800"/>
              </a:spcAft>
            </a:pPr>
            <a:r>
              <a:rPr sz="1800">
                <a:solidFill>
                  <a:srgbClr val="1A1A1A"/>
                </a:solidFill>
                <a:latin typeface="Calibri"/>
              </a:rPr>
              <a:t>•  `while` and `do-while`</a:t>
            </a:r>
          </a:p>
          <a:p>
            <a:pPr>
              <a:spcAft>
                <a:spcPts val="800"/>
              </a:spcAft>
            </a:pPr>
            <a:r>
              <a:rPr sz="1800">
                <a:solidFill>
                  <a:srgbClr val="1A1A1A"/>
                </a:solidFill>
                <a:latin typeface="Calibri"/>
              </a:rPr>
              <a:t>•  Recursion — function calls itself, watch the base case</a:t>
            </a:r>
          </a:p>
          <a:p>
            <a:pPr>
              <a:spcAft>
                <a:spcPts val="800"/>
              </a:spcAft>
            </a:pPr>
            <a:r>
              <a:rPr sz="1800">
                <a:solidFill>
                  <a:srgbClr val="1A1A1A"/>
                </a:solidFill>
                <a:latin typeface="Calibri"/>
              </a:rPr>
              <a:t>•  `break`, `continue`, and labeled breaks</a:t>
            </a:r>
          </a:p>
        </p:txBody>
      </p:sp>
      <p:pic>
        <p:nvPicPr>
          <p:cNvPr id="5" name="Picture 4" descr="diagram_04.png"/>
          <p:cNvPicPr>
            <a:picLocks noChangeAspect="1"/>
          </p:cNvPicPr>
          <p:nvPr/>
        </p:nvPicPr>
        <p:blipFill>
          <a:blip r:embed="rId3"/>
          <a:stretch>
            <a:fillRect/>
          </a:stretch>
        </p:blipFill>
        <p:spPr>
          <a:xfrm>
            <a:off x="838047" y="3520440"/>
            <a:ext cx="10515600" cy="1931843"/>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16 / 41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S15  ·  Functions</a:t>
            </a:r>
          </a:p>
        </p:txBody>
      </p:sp>
      <p:sp>
        <p:nvSpPr>
          <p:cNvPr id="4" name="TextBox 3"/>
          <p:cNvSpPr txBox="1"/>
          <p:nvPr/>
        </p:nvSpPr>
        <p:spPr>
          <a:xfrm>
            <a:off x="548640" y="1188720"/>
            <a:ext cx="11064240" cy="2377440"/>
          </a:xfrm>
          <a:prstGeom prst="rect">
            <a:avLst/>
          </a:prstGeom>
          <a:noFill/>
        </p:spPr>
        <p:txBody>
          <a:bodyPr wrap="square">
            <a:spAutoFit/>
          </a:bodyPr>
          <a:lstStyle/>
          <a:p>
            <a:pPr>
              <a:spcAft>
                <a:spcPts val="800"/>
              </a:spcAft>
            </a:pPr>
            <a:r>
              <a:rPr sz="1800">
                <a:solidFill>
                  <a:srgbClr val="1A1A1A"/>
                </a:solidFill>
                <a:latin typeface="Calibri"/>
              </a:rPr>
              <a:t>•  Positional: `int add(int a, int b) =&gt; a + b;`</a:t>
            </a:r>
          </a:p>
          <a:p>
            <a:pPr>
              <a:spcAft>
                <a:spcPts val="800"/>
              </a:spcAft>
            </a:pPr>
            <a:r>
              <a:rPr sz="1800">
                <a:solidFill>
                  <a:srgbClr val="1A1A1A"/>
                </a:solidFill>
                <a:latin typeface="Calibri"/>
              </a:rPr>
              <a:t>•  Optional positional: `void greet(String n, [String? title])`</a:t>
            </a:r>
          </a:p>
          <a:p>
            <a:pPr>
              <a:spcAft>
                <a:spcPts val="800"/>
              </a:spcAft>
            </a:pPr>
            <a:r>
              <a:rPr sz="1800">
                <a:solidFill>
                  <a:srgbClr val="1A1A1A"/>
                </a:solidFill>
                <a:latin typeface="Calibri"/>
              </a:rPr>
              <a:t>•  Named with defaults: `void make({required int x, int y = 0})`</a:t>
            </a:r>
          </a:p>
          <a:p>
            <a:pPr>
              <a:spcAft>
                <a:spcPts val="800"/>
              </a:spcAft>
            </a:pPr>
            <a:r>
              <a:rPr sz="1800">
                <a:solidFill>
                  <a:srgbClr val="1A1A1A"/>
                </a:solidFill>
                <a:latin typeface="Calibri"/>
              </a:rPr>
              <a:t>•  Arrow shorthand for one-expression bodies: `=&gt; expr`</a:t>
            </a:r>
          </a:p>
          <a:p>
            <a:pPr>
              <a:spcAft>
                <a:spcPts val="800"/>
              </a:spcAft>
            </a:pPr>
            <a:r>
              <a:rPr sz="1800">
                <a:solidFill>
                  <a:srgbClr val="1A1A1A"/>
                </a:solidFill>
                <a:latin typeface="Calibri"/>
              </a:rPr>
              <a:t>•  First-class — pass them, store them, return them</a:t>
            </a:r>
          </a:p>
          <a:p>
            <a:pPr>
              <a:spcAft>
                <a:spcPts val="800"/>
              </a:spcAft>
            </a:pPr>
            <a:r>
              <a:rPr sz="1800">
                <a:solidFill>
                  <a:srgbClr val="1A1A1A"/>
                </a:solidFill>
                <a:latin typeface="Calibri"/>
              </a:rPr>
              <a:t>•  Closures capture surrounding variables</a:t>
            </a:r>
          </a:p>
        </p:txBody>
      </p:sp>
      <p:sp>
        <p:nvSpPr>
          <p:cNvPr id="5" name="Rounded Rectangle 4"/>
          <p:cNvSpPr/>
          <p:nvPr/>
        </p:nvSpPr>
        <p:spPr>
          <a:xfrm>
            <a:off x="640080" y="3749039"/>
            <a:ext cx="10881360" cy="2468880"/>
          </a:xfrm>
          <a:prstGeom prst="roundRect">
            <a:avLst/>
          </a:prstGeom>
          <a:solidFill>
            <a:srgbClr val="F6F8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3858768"/>
            <a:ext cx="10552176" cy="2249424"/>
          </a:xfrm>
          <a:prstGeom prst="rect">
            <a:avLst/>
          </a:prstGeom>
          <a:noFill/>
        </p:spPr>
        <p:txBody>
          <a:bodyPr wrap="none">
            <a:spAutoFit/>
          </a:bodyPr>
          <a:lstStyle/>
          <a:p>
            <a:pPr algn="l">
              <a:spcAft>
                <a:spcPts val="0"/>
              </a:spcAft>
            </a:pPr>
            <a:r>
              <a:rPr sz="1400">
                <a:solidFill>
                  <a:srgbClr val="0766C2"/>
                </a:solidFill>
                <a:latin typeface="Menlo"/>
              </a:rPr>
              <a:t>final</a:t>
            </a:r>
            <a:r>
              <a:rPr sz="1400">
                <a:solidFill>
                  <a:srgbClr val="24292E"/>
                </a:solidFill>
                <a:latin typeface="Menlo"/>
              </a:rPr>
              <a:t> nums </a:t>
            </a:r>
            <a:r>
              <a:rPr sz="1400">
                <a:solidFill>
                  <a:srgbClr val="4A4A4A"/>
                </a:solidFill>
                <a:latin typeface="Menlo"/>
              </a:rPr>
              <a:t>=</a:t>
            </a:r>
            <a:r>
              <a:rPr sz="1400">
                <a:solidFill>
                  <a:srgbClr val="24292E"/>
                </a:solidFill>
                <a:latin typeface="Menlo"/>
              </a:rPr>
              <a:t> </a:t>
            </a:r>
            <a:r>
              <a:rPr sz="1400">
                <a:solidFill>
                  <a:srgbClr val="4A4A4A"/>
                </a:solidFill>
                <a:latin typeface="Menlo"/>
              </a:rPr>
              <a:t>[</a:t>
            </a:r>
            <a:r>
              <a:rPr sz="1400">
                <a:solidFill>
                  <a:srgbClr val="E36009"/>
                </a:solidFill>
                <a:latin typeface="Menlo"/>
              </a:rPr>
              <a:t>1</a:t>
            </a:r>
            <a:r>
              <a:rPr sz="1400">
                <a:solidFill>
                  <a:srgbClr val="4A4A4A"/>
                </a:solidFill>
                <a:latin typeface="Menlo"/>
              </a:rPr>
              <a:t>,</a:t>
            </a:r>
            <a:r>
              <a:rPr sz="1400">
                <a:solidFill>
                  <a:srgbClr val="24292E"/>
                </a:solidFill>
                <a:latin typeface="Menlo"/>
              </a:rPr>
              <a:t> </a:t>
            </a:r>
            <a:r>
              <a:rPr sz="1400">
                <a:solidFill>
                  <a:srgbClr val="E36009"/>
                </a:solidFill>
                <a:latin typeface="Menlo"/>
              </a:rPr>
              <a:t>2</a:t>
            </a:r>
            <a:r>
              <a:rPr sz="1400">
                <a:solidFill>
                  <a:srgbClr val="4A4A4A"/>
                </a:solidFill>
                <a:latin typeface="Menlo"/>
              </a:rPr>
              <a:t>,</a:t>
            </a:r>
            <a:r>
              <a:rPr sz="1400">
                <a:solidFill>
                  <a:srgbClr val="24292E"/>
                </a:solidFill>
                <a:latin typeface="Menlo"/>
              </a:rPr>
              <a:t> </a:t>
            </a:r>
            <a:r>
              <a:rPr sz="1400">
                <a:solidFill>
                  <a:srgbClr val="E36009"/>
                </a:solidFill>
                <a:latin typeface="Menlo"/>
              </a:rPr>
              <a:t>3</a:t>
            </a:r>
            <a:r>
              <a:rPr sz="1400">
                <a:solidFill>
                  <a:srgbClr val="4A4A4A"/>
                </a:solidFill>
                <a:latin typeface="Menlo"/>
              </a:rPr>
              <a:t>].</a:t>
            </a:r>
            <a:r>
              <a:rPr sz="1400">
                <a:solidFill>
                  <a:srgbClr val="24292E"/>
                </a:solidFill>
                <a:latin typeface="Menlo"/>
              </a:rPr>
              <a:t>map</a:t>
            </a:r>
            <a:r>
              <a:rPr sz="1400">
                <a:solidFill>
                  <a:srgbClr val="4A4A4A"/>
                </a:solidFill>
                <a:latin typeface="Menlo"/>
              </a:rPr>
              <a:t>((</a:t>
            </a:r>
            <a:r>
              <a:rPr sz="1400">
                <a:solidFill>
                  <a:srgbClr val="24292E"/>
                </a:solidFill>
                <a:latin typeface="Menlo"/>
              </a:rPr>
              <a:t>n</a:t>
            </a:r>
            <a:r>
              <a:rPr sz="1400">
                <a:solidFill>
                  <a:srgbClr val="4A4A4A"/>
                </a:solidFill>
                <a:latin typeface="Menlo"/>
              </a:rPr>
              <a:t>)</a:t>
            </a:r>
            <a:r>
              <a:rPr sz="1400">
                <a:solidFill>
                  <a:srgbClr val="24292E"/>
                </a:solidFill>
                <a:latin typeface="Menlo"/>
              </a:rPr>
              <a:t> </a:t>
            </a:r>
            <a:r>
              <a:rPr sz="1400">
                <a:solidFill>
                  <a:srgbClr val="4A4A4A"/>
                </a:solidFill>
                <a:latin typeface="Menlo"/>
              </a:rPr>
              <a:t>=&gt;</a:t>
            </a:r>
            <a:r>
              <a:rPr sz="1400">
                <a:solidFill>
                  <a:srgbClr val="24292E"/>
                </a:solidFill>
                <a:latin typeface="Menlo"/>
              </a:rPr>
              <a:t> n </a:t>
            </a:r>
            <a:r>
              <a:rPr sz="1400">
                <a:solidFill>
                  <a:srgbClr val="4A4A4A"/>
                </a:solidFill>
                <a:latin typeface="Menlo"/>
              </a:rPr>
              <a:t>*</a:t>
            </a:r>
            <a:r>
              <a:rPr sz="1400">
                <a:solidFill>
                  <a:srgbClr val="24292E"/>
                </a:solidFill>
                <a:latin typeface="Menlo"/>
              </a:rPr>
              <a:t> </a:t>
            </a:r>
            <a:r>
              <a:rPr sz="1400">
                <a:solidFill>
                  <a:srgbClr val="E36009"/>
                </a:solidFill>
                <a:latin typeface="Menlo"/>
              </a:rPr>
              <a:t>2</a:t>
            </a:r>
            <a:r>
              <a:rPr sz="1400">
                <a:solidFill>
                  <a:srgbClr val="4A4A4A"/>
                </a:solidFill>
                <a:latin typeface="Menlo"/>
              </a:rPr>
              <a:t>).</a:t>
            </a:r>
            <a:r>
              <a:rPr sz="1400">
                <a:solidFill>
                  <a:srgbClr val="24292E"/>
                </a:solidFill>
                <a:latin typeface="Menlo"/>
              </a:rPr>
              <a:t>toList</a:t>
            </a:r>
            <a:r>
              <a:rPr sz="1400">
                <a:solidFill>
                  <a:srgbClr val="4A4A4A"/>
                </a:solidFill>
                <a:latin typeface="Menlo"/>
              </a:rPr>
              <a:t>();</a:t>
            </a:r>
          </a:p>
        </p:txBody>
      </p:sp>
      <p:sp>
        <p:nvSpPr>
          <p:cNvPr id="7" name="TextBox 6"/>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8" name="TextBox 7"/>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17 / 41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S16  ·  Pass Semantics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Dart passes arguments by **value of the reference**</a:t>
            </a:r>
          </a:p>
          <a:p>
            <a:pPr>
              <a:spcAft>
                <a:spcPts val="800"/>
              </a:spcAft>
            </a:pPr>
            <a:r>
              <a:rPr sz="1800">
                <a:solidFill>
                  <a:srgbClr val="1A1A1A"/>
                </a:solidFill>
                <a:latin typeface="Calibri"/>
              </a:rPr>
              <a:t>•  Primitives (`int`, `bool`): the value is copied — caller is unaffected</a:t>
            </a:r>
          </a:p>
          <a:p>
            <a:pPr>
              <a:spcAft>
                <a:spcPts val="800"/>
              </a:spcAft>
            </a:pPr>
            <a:r>
              <a:rPr sz="1800">
                <a:solidFill>
                  <a:srgbClr val="1A1A1A"/>
                </a:solidFill>
                <a:latin typeface="Calibri"/>
              </a:rPr>
              <a:t>•  Objects: the reference is copied — both names point to the same object</a:t>
            </a:r>
          </a:p>
          <a:p>
            <a:pPr>
              <a:spcAft>
                <a:spcPts val="800"/>
              </a:spcAft>
            </a:pPr>
            <a:r>
              <a:rPr sz="1800">
                <a:solidFill>
                  <a:srgbClr val="1A1A1A"/>
                </a:solidFill>
                <a:latin typeface="Calibri"/>
              </a:rPr>
              <a:t>•  Mutations through that reference are visible to the caller</a:t>
            </a:r>
          </a:p>
          <a:p>
            <a:pPr>
              <a:spcAft>
                <a:spcPts val="800"/>
              </a:spcAft>
            </a:pPr>
            <a:r>
              <a:rPr sz="1800">
                <a:solidFill>
                  <a:srgbClr val="1A1A1A"/>
                </a:solidFill>
                <a:latin typeface="Calibri"/>
              </a:rPr>
              <a:t>•  Reassigning the parameter does **not** affect the caller</a:t>
            </a:r>
          </a:p>
        </p:txBody>
      </p:sp>
      <p:pic>
        <p:nvPicPr>
          <p:cNvPr id="5" name="Picture 4" descr="diagram_05.png"/>
          <p:cNvPicPr>
            <a:picLocks noChangeAspect="1"/>
          </p:cNvPicPr>
          <p:nvPr/>
        </p:nvPicPr>
        <p:blipFill>
          <a:blip r:embed="rId3"/>
          <a:stretch>
            <a:fillRect/>
          </a:stretch>
        </p:blipFill>
        <p:spPr>
          <a:xfrm>
            <a:off x="4362297" y="3520440"/>
            <a:ext cx="3467100"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18 / 41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Part 3</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Paradigms &amp; OOP</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19 / 41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S17  ·  Paradigms</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Dart is **multi-paradigm: imperative + OOP + functional**</a:t>
            </a:r>
          </a:p>
          <a:p>
            <a:pPr>
              <a:spcAft>
                <a:spcPts val="800"/>
              </a:spcAft>
            </a:pPr>
            <a:r>
              <a:rPr sz="2200">
                <a:solidFill>
                  <a:srgbClr val="1A1A1A"/>
                </a:solidFill>
                <a:latin typeface="Calibri"/>
              </a:rPr>
              <a:t>•  OOP-first: every value is an object — even numbers and functions</a:t>
            </a:r>
          </a:p>
          <a:p>
            <a:pPr>
              <a:spcAft>
                <a:spcPts val="800"/>
              </a:spcAft>
            </a:pPr>
            <a:r>
              <a:rPr sz="2200">
                <a:solidFill>
                  <a:srgbClr val="1A1A1A"/>
                </a:solidFill>
                <a:latin typeface="Calibri"/>
              </a:rPr>
              <a:t>•  Strong functional support: lambdas, higher-order functions, immutable patterns</a:t>
            </a:r>
          </a:p>
          <a:p>
            <a:pPr>
              <a:spcAft>
                <a:spcPts val="800"/>
              </a:spcAft>
            </a:pPr>
            <a:r>
              <a:rPr sz="2200">
                <a:solidFill>
                  <a:srgbClr val="1A1A1A"/>
                </a:solidFill>
                <a:latin typeface="Calibri"/>
              </a:rPr>
              <a:t>•  Pick the style per problem and mix freely</a:t>
            </a:r>
          </a:p>
          <a:p>
            <a:pPr>
              <a:spcAft>
                <a:spcPts val="800"/>
              </a:spcAft>
            </a:pPr>
            <a:r>
              <a:rPr sz="2200">
                <a:solidFill>
                  <a:srgbClr val="1A1A1A"/>
                </a:solidFill>
                <a:latin typeface="Calibri"/>
              </a:rPr>
              <a:t>•  Real Dart code uses all three styles in one file</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20 / 41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S18  ·  OOP: Class &amp; Encapsulation</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`class Person { ... }` — fields, methods, constructors</a:t>
            </a:r>
          </a:p>
          <a:p>
            <a:pPr>
              <a:spcAft>
                <a:spcPts val="800"/>
              </a:spcAft>
            </a:pPr>
            <a:r>
              <a:rPr sz="1800">
                <a:solidFill>
                  <a:srgbClr val="1A1A1A"/>
                </a:solidFill>
                <a:latin typeface="Calibri"/>
              </a:rPr>
              <a:t>•  Privacy by convention: leading `_` makes a name **library-private**</a:t>
            </a:r>
          </a:p>
          <a:p>
            <a:pPr>
              <a:spcAft>
                <a:spcPts val="800"/>
              </a:spcAft>
            </a:pPr>
            <a:r>
              <a:rPr sz="1800">
                <a:solidFill>
                  <a:srgbClr val="1A1A1A"/>
                </a:solidFill>
                <a:latin typeface="Calibri"/>
              </a:rPr>
              <a:t>•  Getters and setters look like fields, run like methods</a:t>
            </a:r>
          </a:p>
          <a:p>
            <a:pPr>
              <a:spcAft>
                <a:spcPts val="800"/>
              </a:spcAft>
            </a:pPr>
            <a:r>
              <a:rPr sz="1800">
                <a:solidFill>
                  <a:srgbClr val="1A1A1A"/>
                </a:solidFill>
                <a:latin typeface="Calibri"/>
              </a:rPr>
              <a:t>•  Constructors: default, named, factory</a:t>
            </a:r>
          </a:p>
          <a:p>
            <a:pPr>
              <a:spcAft>
                <a:spcPts val="800"/>
              </a:spcAft>
            </a:pPr>
            <a:r>
              <a:rPr sz="1800">
                <a:solidFill>
                  <a:srgbClr val="1A1A1A"/>
                </a:solidFill>
                <a:latin typeface="Calibri"/>
              </a:rPr>
              <a:t>•  Initializer-list shorthand: `Person(this._name);`</a:t>
            </a:r>
          </a:p>
        </p:txBody>
      </p:sp>
      <p:pic>
        <p:nvPicPr>
          <p:cNvPr id="5" name="Picture 4" descr="diagram_06.png"/>
          <p:cNvPicPr>
            <a:picLocks noChangeAspect="1"/>
          </p:cNvPicPr>
          <p:nvPr/>
        </p:nvPicPr>
        <p:blipFill>
          <a:blip r:embed="rId3"/>
          <a:stretch>
            <a:fillRect/>
          </a:stretch>
        </p:blipFill>
        <p:spPr>
          <a:xfrm>
            <a:off x="3931767" y="3520440"/>
            <a:ext cx="4328160"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21 / 41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S19  ·  OOP: Inheritance</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`class Dog extends Animal` — single inheritance only</a:t>
            </a:r>
          </a:p>
          <a:p>
            <a:pPr>
              <a:spcAft>
                <a:spcPts val="800"/>
              </a:spcAft>
            </a:pPr>
            <a:r>
              <a:rPr sz="1800">
                <a:solidFill>
                  <a:srgbClr val="1A1A1A"/>
                </a:solidFill>
                <a:latin typeface="Calibri"/>
              </a:rPr>
              <a:t>•  Override methods with `@override`</a:t>
            </a:r>
          </a:p>
          <a:p>
            <a:pPr>
              <a:spcAft>
                <a:spcPts val="800"/>
              </a:spcAft>
            </a:pPr>
            <a:r>
              <a:rPr sz="1800">
                <a:solidFill>
                  <a:srgbClr val="1A1A1A"/>
                </a:solidFill>
                <a:latin typeface="Calibri"/>
              </a:rPr>
              <a:t>•  Call the parent's version with `super.method()`</a:t>
            </a:r>
          </a:p>
          <a:p>
            <a:pPr>
              <a:spcAft>
                <a:spcPts val="800"/>
              </a:spcAft>
            </a:pPr>
            <a:r>
              <a:rPr sz="1800">
                <a:solidFill>
                  <a:srgbClr val="1A1A1A"/>
                </a:solidFill>
                <a:latin typeface="Calibri"/>
              </a:rPr>
              <a:t>•  Constructors chain via `: super(...)`</a:t>
            </a:r>
          </a:p>
          <a:p>
            <a:pPr>
              <a:spcAft>
                <a:spcPts val="800"/>
              </a:spcAft>
            </a:pPr>
            <a:r>
              <a:rPr sz="1800">
                <a:solidFill>
                  <a:srgbClr val="1A1A1A"/>
                </a:solidFill>
                <a:latin typeface="Calibri"/>
              </a:rPr>
              <a:t>•  All classes implicitly extend `Object`</a:t>
            </a:r>
          </a:p>
        </p:txBody>
      </p:sp>
      <p:pic>
        <p:nvPicPr>
          <p:cNvPr id="5" name="Picture 4" descr="diagram_06.png"/>
          <p:cNvPicPr>
            <a:picLocks noChangeAspect="1"/>
          </p:cNvPicPr>
          <p:nvPr/>
        </p:nvPicPr>
        <p:blipFill>
          <a:blip r:embed="rId3"/>
          <a:stretch>
            <a:fillRect/>
          </a:stretch>
        </p:blipFill>
        <p:spPr>
          <a:xfrm>
            <a:off x="3931767" y="3520440"/>
            <a:ext cx="4328160"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22 / 41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S20  ·  OOP: Polymorphism &amp; Abstract Classes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Polymorphism: same name, different behavior per subclass</a:t>
            </a:r>
          </a:p>
          <a:p>
            <a:pPr>
              <a:spcAft>
                <a:spcPts val="800"/>
              </a:spcAft>
            </a:pPr>
            <a:r>
              <a:rPr sz="1800">
                <a:solidFill>
                  <a:srgbClr val="1A1A1A"/>
                </a:solidFill>
                <a:latin typeface="Calibri"/>
              </a:rPr>
              <a:t>•  `abstract class Shape` — cannot be instantiated directly</a:t>
            </a:r>
          </a:p>
          <a:p>
            <a:pPr>
              <a:spcAft>
                <a:spcPts val="800"/>
              </a:spcAft>
            </a:pPr>
            <a:r>
              <a:rPr sz="1800">
                <a:solidFill>
                  <a:srgbClr val="1A1A1A"/>
                </a:solidFill>
                <a:latin typeface="Calibri"/>
              </a:rPr>
              <a:t>•  Methods without bodies must be implemented by subclasses</a:t>
            </a:r>
          </a:p>
          <a:p>
            <a:pPr>
              <a:spcAft>
                <a:spcPts val="800"/>
              </a:spcAft>
            </a:pPr>
            <a:r>
              <a:rPr sz="1800">
                <a:solidFill>
                  <a:srgbClr val="1A1A1A"/>
                </a:solidFill>
                <a:latin typeface="Calibri"/>
              </a:rPr>
              <a:t>•  Virtual dispatch — Dart picks the right method at runtime</a:t>
            </a:r>
          </a:p>
          <a:p>
            <a:pPr>
              <a:spcAft>
                <a:spcPts val="800"/>
              </a:spcAft>
            </a:pPr>
            <a:r>
              <a:rPr sz="1800">
                <a:solidFill>
                  <a:srgbClr val="1A1A1A"/>
                </a:solidFill>
                <a:latin typeface="Calibri"/>
              </a:rPr>
              <a:t>•  Dart 3: `interface class`, `final class` modifiers</a:t>
            </a:r>
          </a:p>
        </p:txBody>
      </p:sp>
      <p:pic>
        <p:nvPicPr>
          <p:cNvPr id="5" name="Picture 4" descr="diagram_06.png"/>
          <p:cNvPicPr>
            <a:picLocks noChangeAspect="1"/>
          </p:cNvPicPr>
          <p:nvPr/>
        </p:nvPicPr>
        <p:blipFill>
          <a:blip r:embed="rId3"/>
          <a:stretch>
            <a:fillRect/>
          </a:stretch>
        </p:blipFill>
        <p:spPr>
          <a:xfrm>
            <a:off x="3931767" y="3520440"/>
            <a:ext cx="4328160"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23 / 41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Part 4</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Functional Features</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24 / 41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S21  ·  Functional: Lambdas &amp; HOF</a:t>
            </a:r>
          </a:p>
        </p:txBody>
      </p:sp>
      <p:sp>
        <p:nvSpPr>
          <p:cNvPr id="4" name="TextBox 3"/>
          <p:cNvSpPr txBox="1"/>
          <p:nvPr/>
        </p:nvSpPr>
        <p:spPr>
          <a:xfrm>
            <a:off x="548640" y="1188720"/>
            <a:ext cx="11064240" cy="2377440"/>
          </a:xfrm>
          <a:prstGeom prst="rect">
            <a:avLst/>
          </a:prstGeom>
          <a:noFill/>
        </p:spPr>
        <p:txBody>
          <a:bodyPr wrap="square">
            <a:spAutoFit/>
          </a:bodyPr>
          <a:lstStyle/>
          <a:p>
            <a:pPr>
              <a:spcAft>
                <a:spcPts val="800"/>
              </a:spcAft>
            </a:pPr>
            <a:r>
              <a:rPr sz="1800">
                <a:solidFill>
                  <a:srgbClr val="1A1A1A"/>
                </a:solidFill>
                <a:latin typeface="Calibri"/>
              </a:rPr>
              <a:t>•  Lambda: anonymous function value, e.g. `(x) =&gt; x * 2`</a:t>
            </a:r>
          </a:p>
          <a:p>
            <a:pPr>
              <a:spcAft>
                <a:spcPts val="800"/>
              </a:spcAft>
            </a:pPr>
            <a:r>
              <a:rPr sz="1800">
                <a:solidFill>
                  <a:srgbClr val="1A1A1A"/>
                </a:solidFill>
                <a:latin typeface="Calibri"/>
              </a:rPr>
              <a:t>•  Higher-order function: takes or returns another function</a:t>
            </a:r>
          </a:p>
          <a:p>
            <a:pPr>
              <a:spcAft>
                <a:spcPts val="800"/>
              </a:spcAft>
            </a:pPr>
            <a:r>
              <a:rPr sz="1800">
                <a:solidFill>
                  <a:srgbClr val="1A1A1A"/>
                </a:solidFill>
                <a:latin typeface="Calibri"/>
              </a:rPr>
              <a:t>•  `map` — transform each element</a:t>
            </a:r>
          </a:p>
          <a:p>
            <a:pPr>
              <a:spcAft>
                <a:spcPts val="800"/>
              </a:spcAft>
            </a:pPr>
            <a:r>
              <a:rPr sz="1800">
                <a:solidFill>
                  <a:srgbClr val="1A1A1A"/>
                </a:solidFill>
                <a:latin typeface="Calibri"/>
              </a:rPr>
              <a:t>•  `where` — keep elements that pass a test</a:t>
            </a:r>
          </a:p>
          <a:p>
            <a:pPr>
              <a:spcAft>
                <a:spcPts val="800"/>
              </a:spcAft>
            </a:pPr>
            <a:r>
              <a:rPr sz="1800">
                <a:solidFill>
                  <a:srgbClr val="1A1A1A"/>
                </a:solidFill>
                <a:latin typeface="Calibri"/>
              </a:rPr>
              <a:t>•  `reduce` and `fold` — collapse a sequence to a single value</a:t>
            </a:r>
          </a:p>
          <a:p>
            <a:pPr>
              <a:spcAft>
                <a:spcPts val="800"/>
              </a:spcAft>
            </a:pPr>
            <a:r>
              <a:rPr sz="1800">
                <a:solidFill>
                  <a:srgbClr val="1A1A1A"/>
                </a:solidFill>
                <a:latin typeface="Calibri"/>
              </a:rPr>
              <a:t>•  Also: `forEach`, `any`, `every`, `expand`, `take`, `skip`</a:t>
            </a:r>
          </a:p>
        </p:txBody>
      </p:sp>
      <p:sp>
        <p:nvSpPr>
          <p:cNvPr id="5" name="Rounded Rectangle 4"/>
          <p:cNvSpPr/>
          <p:nvPr/>
        </p:nvSpPr>
        <p:spPr>
          <a:xfrm>
            <a:off x="640080" y="3749039"/>
            <a:ext cx="10881360" cy="2468880"/>
          </a:xfrm>
          <a:prstGeom prst="roundRect">
            <a:avLst/>
          </a:prstGeom>
          <a:solidFill>
            <a:srgbClr val="F6F8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3858768"/>
            <a:ext cx="10552176" cy="2249424"/>
          </a:xfrm>
          <a:prstGeom prst="rect">
            <a:avLst/>
          </a:prstGeom>
          <a:noFill/>
        </p:spPr>
        <p:txBody>
          <a:bodyPr wrap="none">
            <a:spAutoFit/>
          </a:bodyPr>
          <a:lstStyle/>
          <a:p>
            <a:pPr algn="l">
              <a:spcAft>
                <a:spcPts val="0"/>
              </a:spcAft>
            </a:pPr>
            <a:r>
              <a:rPr sz="1400">
                <a:solidFill>
                  <a:srgbClr val="0766C2"/>
                </a:solidFill>
                <a:latin typeface="Menlo"/>
              </a:rPr>
              <a:t>final</a:t>
            </a:r>
            <a:r>
              <a:rPr sz="1400">
                <a:solidFill>
                  <a:srgbClr val="24292E"/>
                </a:solidFill>
                <a:latin typeface="Menlo"/>
              </a:rPr>
              <a:t> sumOfSquares </a:t>
            </a:r>
            <a:r>
              <a:rPr sz="1400">
                <a:solidFill>
                  <a:srgbClr val="4A4A4A"/>
                </a:solidFill>
                <a:latin typeface="Menlo"/>
              </a:rPr>
              <a:t>=</a:t>
            </a:r>
            <a:r>
              <a:rPr sz="1400">
                <a:solidFill>
                  <a:srgbClr val="24292E"/>
                </a:solidFill>
                <a:latin typeface="Menlo"/>
              </a:rPr>
              <a:t> </a:t>
            </a:r>
            <a:r>
              <a:rPr sz="1400">
                <a:solidFill>
                  <a:srgbClr val="4A4A4A"/>
                </a:solidFill>
                <a:latin typeface="Menlo"/>
              </a:rPr>
              <a:t>[</a:t>
            </a:r>
            <a:r>
              <a:rPr sz="1400">
                <a:solidFill>
                  <a:srgbClr val="E36009"/>
                </a:solidFill>
                <a:latin typeface="Menlo"/>
              </a:rPr>
              <a:t>1</a:t>
            </a:r>
            <a:r>
              <a:rPr sz="1400">
                <a:solidFill>
                  <a:srgbClr val="4A4A4A"/>
                </a:solidFill>
                <a:latin typeface="Menlo"/>
              </a:rPr>
              <a:t>,</a:t>
            </a:r>
            <a:r>
              <a:rPr sz="1400">
                <a:solidFill>
                  <a:srgbClr val="E36009"/>
                </a:solidFill>
                <a:latin typeface="Menlo"/>
              </a:rPr>
              <a:t>2</a:t>
            </a:r>
            <a:r>
              <a:rPr sz="1400">
                <a:solidFill>
                  <a:srgbClr val="4A4A4A"/>
                </a:solidFill>
                <a:latin typeface="Menlo"/>
              </a:rPr>
              <a:t>,</a:t>
            </a:r>
            <a:r>
              <a:rPr sz="1400">
                <a:solidFill>
                  <a:srgbClr val="E36009"/>
                </a:solidFill>
                <a:latin typeface="Menlo"/>
              </a:rPr>
              <a:t>3</a:t>
            </a:r>
            <a:r>
              <a:rPr sz="1400">
                <a:solidFill>
                  <a:srgbClr val="4A4A4A"/>
                </a:solidFill>
                <a:latin typeface="Menlo"/>
              </a:rPr>
              <a:t>,</a:t>
            </a:r>
            <a:r>
              <a:rPr sz="1400">
                <a:solidFill>
                  <a:srgbClr val="E36009"/>
                </a:solidFill>
                <a:latin typeface="Menlo"/>
              </a:rPr>
              <a:t>4</a:t>
            </a:r>
            <a:r>
              <a:rPr sz="1400">
                <a:solidFill>
                  <a:srgbClr val="4A4A4A"/>
                </a:solidFill>
                <a:latin typeface="Menlo"/>
              </a:rPr>
              <a:t>]</a:t>
            </a:r>
          </a:p>
          <a:p>
            <a:pPr algn="l">
              <a:spcAft>
                <a:spcPts val="0"/>
              </a:spcAft>
            </a:pPr>
            <a:r>
              <a:rPr sz="1400">
                <a:solidFill>
                  <a:srgbClr val="24292E"/>
                </a:solidFill>
                <a:latin typeface="Menlo"/>
              </a:rPr>
              <a:t>    </a:t>
            </a:r>
            <a:r>
              <a:rPr sz="1400">
                <a:solidFill>
                  <a:srgbClr val="4A4A4A"/>
                </a:solidFill>
                <a:latin typeface="Menlo"/>
              </a:rPr>
              <a:t>.</a:t>
            </a:r>
            <a:r>
              <a:rPr sz="1400">
                <a:solidFill>
                  <a:srgbClr val="24292E"/>
                </a:solidFill>
                <a:latin typeface="Menlo"/>
              </a:rPr>
              <a:t>map</a:t>
            </a:r>
            <a:r>
              <a:rPr sz="1400">
                <a:solidFill>
                  <a:srgbClr val="4A4A4A"/>
                </a:solidFill>
                <a:latin typeface="Menlo"/>
              </a:rPr>
              <a:t>((</a:t>
            </a:r>
            <a:r>
              <a:rPr sz="1400">
                <a:solidFill>
                  <a:srgbClr val="24292E"/>
                </a:solidFill>
                <a:latin typeface="Menlo"/>
              </a:rPr>
              <a:t>n</a:t>
            </a:r>
            <a:r>
              <a:rPr sz="1400">
                <a:solidFill>
                  <a:srgbClr val="4A4A4A"/>
                </a:solidFill>
                <a:latin typeface="Menlo"/>
              </a:rPr>
              <a:t>)</a:t>
            </a:r>
            <a:r>
              <a:rPr sz="1400">
                <a:solidFill>
                  <a:srgbClr val="24292E"/>
                </a:solidFill>
                <a:latin typeface="Menlo"/>
              </a:rPr>
              <a:t> </a:t>
            </a:r>
            <a:r>
              <a:rPr sz="1400">
                <a:solidFill>
                  <a:srgbClr val="4A4A4A"/>
                </a:solidFill>
                <a:latin typeface="Menlo"/>
              </a:rPr>
              <a:t>=&gt;</a:t>
            </a:r>
            <a:r>
              <a:rPr sz="1400">
                <a:solidFill>
                  <a:srgbClr val="24292E"/>
                </a:solidFill>
                <a:latin typeface="Menlo"/>
              </a:rPr>
              <a:t> n </a:t>
            </a:r>
            <a:r>
              <a:rPr sz="1400">
                <a:solidFill>
                  <a:srgbClr val="4A4A4A"/>
                </a:solidFill>
                <a:latin typeface="Menlo"/>
              </a:rPr>
              <a:t>*</a:t>
            </a:r>
            <a:r>
              <a:rPr sz="1400">
                <a:solidFill>
                  <a:srgbClr val="24292E"/>
                </a:solidFill>
                <a:latin typeface="Menlo"/>
              </a:rPr>
              <a:t> n</a:t>
            </a:r>
            <a:r>
              <a:rPr sz="1400">
                <a:solidFill>
                  <a:srgbClr val="4A4A4A"/>
                </a:solidFill>
                <a:latin typeface="Menlo"/>
              </a:rPr>
              <a:t>)</a:t>
            </a:r>
          </a:p>
          <a:p>
            <a:pPr algn="l">
              <a:spcAft>
                <a:spcPts val="0"/>
              </a:spcAft>
            </a:pPr>
            <a:r>
              <a:rPr sz="1400">
                <a:solidFill>
                  <a:srgbClr val="24292E"/>
                </a:solidFill>
                <a:latin typeface="Menlo"/>
              </a:rPr>
              <a:t>    </a:t>
            </a:r>
            <a:r>
              <a:rPr sz="1400">
                <a:solidFill>
                  <a:srgbClr val="4A4A4A"/>
                </a:solidFill>
                <a:latin typeface="Menlo"/>
              </a:rPr>
              <a:t>.</a:t>
            </a:r>
            <a:r>
              <a:rPr sz="1400">
                <a:solidFill>
                  <a:srgbClr val="24292E"/>
                </a:solidFill>
                <a:latin typeface="Menlo"/>
              </a:rPr>
              <a:t>reduce</a:t>
            </a:r>
            <a:r>
              <a:rPr sz="1400">
                <a:solidFill>
                  <a:srgbClr val="4A4A4A"/>
                </a:solidFill>
                <a:latin typeface="Menlo"/>
              </a:rPr>
              <a:t>((</a:t>
            </a:r>
            <a:r>
              <a:rPr sz="1400">
                <a:solidFill>
                  <a:srgbClr val="24292E"/>
                </a:solidFill>
                <a:latin typeface="Menlo"/>
              </a:rPr>
              <a:t>a</a:t>
            </a:r>
            <a:r>
              <a:rPr sz="1400">
                <a:solidFill>
                  <a:srgbClr val="4A4A4A"/>
                </a:solidFill>
                <a:latin typeface="Menlo"/>
              </a:rPr>
              <a:t>,</a:t>
            </a:r>
            <a:r>
              <a:rPr sz="1400">
                <a:solidFill>
                  <a:srgbClr val="24292E"/>
                </a:solidFill>
                <a:latin typeface="Menlo"/>
              </a:rPr>
              <a:t> b</a:t>
            </a:r>
            <a:r>
              <a:rPr sz="1400">
                <a:solidFill>
                  <a:srgbClr val="4A4A4A"/>
                </a:solidFill>
                <a:latin typeface="Menlo"/>
              </a:rPr>
              <a:t>)</a:t>
            </a:r>
            <a:r>
              <a:rPr sz="1400">
                <a:solidFill>
                  <a:srgbClr val="24292E"/>
                </a:solidFill>
                <a:latin typeface="Menlo"/>
              </a:rPr>
              <a:t> </a:t>
            </a:r>
            <a:r>
              <a:rPr sz="1400">
                <a:solidFill>
                  <a:srgbClr val="4A4A4A"/>
                </a:solidFill>
                <a:latin typeface="Menlo"/>
              </a:rPr>
              <a:t>=&gt;</a:t>
            </a:r>
            <a:r>
              <a:rPr sz="1400">
                <a:solidFill>
                  <a:srgbClr val="24292E"/>
                </a:solidFill>
                <a:latin typeface="Menlo"/>
              </a:rPr>
              <a:t> a </a:t>
            </a:r>
            <a:r>
              <a:rPr sz="1400">
                <a:solidFill>
                  <a:srgbClr val="4A4A4A"/>
                </a:solidFill>
                <a:latin typeface="Menlo"/>
              </a:rPr>
              <a:t>+</a:t>
            </a:r>
            <a:r>
              <a:rPr sz="1400">
                <a:solidFill>
                  <a:srgbClr val="24292E"/>
                </a:solidFill>
                <a:latin typeface="Menlo"/>
              </a:rPr>
              <a:t> b</a:t>
            </a:r>
            <a:r>
              <a:rPr sz="1400">
                <a:solidFill>
                  <a:srgbClr val="4A4A4A"/>
                </a:solidFill>
                <a:latin typeface="Menlo"/>
              </a:rPr>
              <a:t>);</a:t>
            </a:r>
            <a:r>
              <a:rPr sz="1400">
                <a:solidFill>
                  <a:srgbClr val="24292E"/>
                </a:solidFill>
                <a:latin typeface="Menlo"/>
              </a:rPr>
              <a:t> </a:t>
            </a:r>
            <a:r>
              <a:rPr sz="1400">
                <a:solidFill>
                  <a:srgbClr val="6A737D"/>
                </a:solidFill>
                <a:latin typeface="Menlo"/>
              </a:rPr>
              <a:t>// 30</a:t>
            </a:r>
          </a:p>
        </p:txBody>
      </p:sp>
      <p:sp>
        <p:nvSpPr>
          <p:cNvPr id="7" name="TextBox 6"/>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8" name="TextBox 7"/>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25 / 41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S22  ·  Functional: Lazy Iteration</a:t>
            </a:r>
          </a:p>
        </p:txBody>
      </p:sp>
      <p:sp>
        <p:nvSpPr>
          <p:cNvPr id="4" name="TextBox 3"/>
          <p:cNvSpPr txBox="1"/>
          <p:nvPr/>
        </p:nvSpPr>
        <p:spPr>
          <a:xfrm>
            <a:off x="548640" y="1188720"/>
            <a:ext cx="11064240" cy="2377440"/>
          </a:xfrm>
          <a:prstGeom prst="rect">
            <a:avLst/>
          </a:prstGeom>
          <a:noFill/>
        </p:spPr>
        <p:txBody>
          <a:bodyPr wrap="square">
            <a:spAutoFit/>
          </a:bodyPr>
          <a:lstStyle/>
          <a:p>
            <a:pPr>
              <a:spcAft>
                <a:spcPts val="800"/>
              </a:spcAft>
            </a:pPr>
            <a:r>
              <a:rPr sz="1800">
                <a:solidFill>
                  <a:srgbClr val="1A1A1A"/>
                </a:solidFill>
                <a:latin typeface="Calibri"/>
              </a:rPr>
              <a:t>•  `Iterable&lt;T&gt;` — a possibly-lazy sequence</a:t>
            </a:r>
          </a:p>
          <a:p>
            <a:pPr>
              <a:spcAft>
                <a:spcPts val="800"/>
              </a:spcAft>
            </a:pPr>
            <a:r>
              <a:rPr sz="1800">
                <a:solidFill>
                  <a:srgbClr val="1A1A1A"/>
                </a:solidFill>
                <a:latin typeface="Calibri"/>
              </a:rPr>
              <a:t>•  `sync*` body produces an `Iterable` lazily</a:t>
            </a:r>
          </a:p>
          <a:p>
            <a:pPr>
              <a:spcAft>
                <a:spcPts val="800"/>
              </a:spcAft>
            </a:pPr>
            <a:r>
              <a:rPr sz="1800">
                <a:solidFill>
                  <a:srgbClr val="1A1A1A"/>
                </a:solidFill>
                <a:latin typeface="Calibri"/>
              </a:rPr>
              <a:t>•  `yield` emits one value at a time</a:t>
            </a:r>
          </a:p>
          <a:p>
            <a:pPr>
              <a:spcAft>
                <a:spcPts val="800"/>
              </a:spcAft>
            </a:pPr>
            <a:r>
              <a:rPr sz="1800">
                <a:solidFill>
                  <a:srgbClr val="1A1A1A"/>
                </a:solidFill>
                <a:latin typeface="Calibri"/>
              </a:rPr>
              <a:t>•  `yield*` delegates to another iterable</a:t>
            </a:r>
          </a:p>
          <a:p>
            <a:pPr>
              <a:spcAft>
                <a:spcPts val="800"/>
              </a:spcAft>
            </a:pPr>
            <a:r>
              <a:rPr sz="1800">
                <a:solidFill>
                  <a:srgbClr val="1A1A1A"/>
                </a:solidFill>
                <a:latin typeface="Calibri"/>
              </a:rPr>
              <a:t>•  Computation happens only on demand</a:t>
            </a:r>
          </a:p>
        </p:txBody>
      </p:sp>
      <p:sp>
        <p:nvSpPr>
          <p:cNvPr id="5" name="Rounded Rectangle 4"/>
          <p:cNvSpPr/>
          <p:nvPr/>
        </p:nvSpPr>
        <p:spPr>
          <a:xfrm>
            <a:off x="640080" y="3749039"/>
            <a:ext cx="10881360" cy="2468880"/>
          </a:xfrm>
          <a:prstGeom prst="roundRect">
            <a:avLst/>
          </a:prstGeom>
          <a:solidFill>
            <a:srgbClr val="F6F8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3858768"/>
            <a:ext cx="10552176" cy="2249424"/>
          </a:xfrm>
          <a:prstGeom prst="rect">
            <a:avLst/>
          </a:prstGeom>
          <a:noFill/>
        </p:spPr>
        <p:txBody>
          <a:bodyPr wrap="none">
            <a:spAutoFit/>
          </a:bodyPr>
          <a:lstStyle/>
          <a:p>
            <a:pPr algn="l">
              <a:spcAft>
                <a:spcPts val="0"/>
              </a:spcAft>
            </a:pPr>
            <a:r>
              <a:rPr sz="1400">
                <a:solidFill>
                  <a:srgbClr val="24292E"/>
                </a:solidFill>
                <a:latin typeface="Menlo"/>
              </a:rPr>
              <a:t>Iterable</a:t>
            </a:r>
            <a:r>
              <a:rPr sz="1400">
                <a:solidFill>
                  <a:srgbClr val="4A4A4A"/>
                </a:solidFill>
                <a:latin typeface="Menlo"/>
              </a:rPr>
              <a:t>&lt;</a:t>
            </a:r>
            <a:r>
              <a:rPr sz="1400">
                <a:solidFill>
                  <a:srgbClr val="0766C2"/>
                </a:solidFill>
                <a:latin typeface="Menlo"/>
              </a:rPr>
              <a:t>int</a:t>
            </a:r>
            <a:r>
              <a:rPr sz="1400">
                <a:solidFill>
                  <a:srgbClr val="4A4A4A"/>
                </a:solidFill>
                <a:latin typeface="Menlo"/>
              </a:rPr>
              <a:t>&gt;</a:t>
            </a:r>
            <a:r>
              <a:rPr sz="1400">
                <a:solidFill>
                  <a:srgbClr val="24292E"/>
                </a:solidFill>
                <a:latin typeface="Menlo"/>
              </a:rPr>
              <a:t> evens</a:t>
            </a:r>
            <a:r>
              <a:rPr sz="1400">
                <a:solidFill>
                  <a:srgbClr val="4A4A4A"/>
                </a:solidFill>
                <a:latin typeface="Menlo"/>
              </a:rPr>
              <a:t>(</a:t>
            </a:r>
            <a:r>
              <a:rPr sz="1400">
                <a:solidFill>
                  <a:srgbClr val="0766C2"/>
                </a:solidFill>
                <a:latin typeface="Menlo"/>
              </a:rPr>
              <a:t>int</a:t>
            </a:r>
            <a:r>
              <a:rPr sz="1400">
                <a:solidFill>
                  <a:srgbClr val="24292E"/>
                </a:solidFill>
                <a:latin typeface="Menlo"/>
              </a:rPr>
              <a:t> n</a:t>
            </a:r>
            <a:r>
              <a:rPr sz="1400">
                <a:solidFill>
                  <a:srgbClr val="4A4A4A"/>
                </a:solidFill>
                <a:latin typeface="Menlo"/>
              </a:rPr>
              <a:t>)</a:t>
            </a:r>
            <a:r>
              <a:rPr sz="1400">
                <a:solidFill>
                  <a:srgbClr val="24292E"/>
                </a:solidFill>
                <a:latin typeface="Menlo"/>
              </a:rPr>
              <a:t> </a:t>
            </a:r>
            <a:r>
              <a:rPr sz="1400">
                <a:solidFill>
                  <a:srgbClr val="0766C2"/>
                </a:solidFill>
                <a:latin typeface="Menlo"/>
              </a:rPr>
              <a:t>sync</a:t>
            </a:r>
            <a:r>
              <a:rPr sz="1400">
                <a:solidFill>
                  <a:srgbClr val="4A4A4A"/>
                </a:solidFill>
                <a:latin typeface="Menlo"/>
              </a:rPr>
              <a:t>*</a:t>
            </a:r>
            <a:r>
              <a:rPr sz="1400">
                <a:solidFill>
                  <a:srgbClr val="24292E"/>
                </a:solidFill>
                <a:latin typeface="Menlo"/>
              </a:rPr>
              <a:t> </a:t>
            </a:r>
            <a:r>
              <a:rPr sz="1400">
                <a:solidFill>
                  <a:srgbClr val="4A4A4A"/>
                </a:solidFill>
                <a:latin typeface="Menlo"/>
              </a:rPr>
              <a:t>{</a:t>
            </a:r>
          </a:p>
          <a:p>
            <a:pPr algn="l">
              <a:spcAft>
                <a:spcPts val="0"/>
              </a:spcAft>
            </a:pPr>
            <a:r>
              <a:rPr sz="1400">
                <a:solidFill>
                  <a:srgbClr val="24292E"/>
                </a:solidFill>
                <a:latin typeface="Menlo"/>
              </a:rPr>
              <a:t>  </a:t>
            </a:r>
            <a:r>
              <a:rPr sz="1400">
                <a:solidFill>
                  <a:srgbClr val="0766C2"/>
                </a:solidFill>
                <a:latin typeface="Menlo"/>
              </a:rPr>
              <a:t>for</a:t>
            </a:r>
            <a:r>
              <a:rPr sz="1400">
                <a:solidFill>
                  <a:srgbClr val="24292E"/>
                </a:solidFill>
                <a:latin typeface="Menlo"/>
              </a:rPr>
              <a:t> </a:t>
            </a:r>
            <a:r>
              <a:rPr sz="1400">
                <a:solidFill>
                  <a:srgbClr val="4A4A4A"/>
                </a:solidFill>
                <a:latin typeface="Menlo"/>
              </a:rPr>
              <a:t>(</a:t>
            </a:r>
            <a:r>
              <a:rPr sz="1400">
                <a:solidFill>
                  <a:srgbClr val="0766C2"/>
                </a:solidFill>
                <a:latin typeface="Menlo"/>
              </a:rPr>
              <a:t>var</a:t>
            </a:r>
            <a:r>
              <a:rPr sz="1400">
                <a:solidFill>
                  <a:srgbClr val="24292E"/>
                </a:solidFill>
                <a:latin typeface="Menlo"/>
              </a:rPr>
              <a:t> i </a:t>
            </a:r>
            <a:r>
              <a:rPr sz="1400">
                <a:solidFill>
                  <a:srgbClr val="4A4A4A"/>
                </a:solidFill>
                <a:latin typeface="Menlo"/>
              </a:rPr>
              <a:t>=</a:t>
            </a:r>
            <a:r>
              <a:rPr sz="1400">
                <a:solidFill>
                  <a:srgbClr val="24292E"/>
                </a:solidFill>
                <a:latin typeface="Menlo"/>
              </a:rPr>
              <a:t> </a:t>
            </a:r>
            <a:r>
              <a:rPr sz="1400">
                <a:solidFill>
                  <a:srgbClr val="E36009"/>
                </a:solidFill>
                <a:latin typeface="Menlo"/>
              </a:rPr>
              <a:t>0</a:t>
            </a:r>
            <a:r>
              <a:rPr sz="1400">
                <a:solidFill>
                  <a:srgbClr val="4A4A4A"/>
                </a:solidFill>
                <a:latin typeface="Menlo"/>
              </a:rPr>
              <a:t>;</a:t>
            </a:r>
            <a:r>
              <a:rPr sz="1400">
                <a:solidFill>
                  <a:srgbClr val="24292E"/>
                </a:solidFill>
                <a:latin typeface="Menlo"/>
              </a:rPr>
              <a:t> i </a:t>
            </a:r>
            <a:r>
              <a:rPr sz="1400">
                <a:solidFill>
                  <a:srgbClr val="4A4A4A"/>
                </a:solidFill>
                <a:latin typeface="Menlo"/>
              </a:rPr>
              <a:t>&lt;</a:t>
            </a:r>
            <a:r>
              <a:rPr sz="1400">
                <a:solidFill>
                  <a:srgbClr val="24292E"/>
                </a:solidFill>
                <a:latin typeface="Menlo"/>
              </a:rPr>
              <a:t> n</a:t>
            </a:r>
            <a:r>
              <a:rPr sz="1400">
                <a:solidFill>
                  <a:srgbClr val="4A4A4A"/>
                </a:solidFill>
                <a:latin typeface="Menlo"/>
              </a:rPr>
              <a:t>;</a:t>
            </a:r>
            <a:r>
              <a:rPr sz="1400">
                <a:solidFill>
                  <a:srgbClr val="24292E"/>
                </a:solidFill>
                <a:latin typeface="Menlo"/>
              </a:rPr>
              <a:t> i</a:t>
            </a:r>
            <a:r>
              <a:rPr sz="1400">
                <a:solidFill>
                  <a:srgbClr val="4A4A4A"/>
                </a:solidFill>
                <a:latin typeface="Menlo"/>
              </a:rPr>
              <a:t>++)</a:t>
            </a:r>
            <a:r>
              <a:rPr sz="1400">
                <a:solidFill>
                  <a:srgbClr val="24292E"/>
                </a:solidFill>
                <a:latin typeface="Menlo"/>
              </a:rPr>
              <a:t> </a:t>
            </a:r>
            <a:r>
              <a:rPr sz="1400">
                <a:solidFill>
                  <a:srgbClr val="4A4A4A"/>
                </a:solidFill>
                <a:latin typeface="Menlo"/>
              </a:rPr>
              <a:t>{</a:t>
            </a:r>
            <a:r>
              <a:rPr sz="1400">
                <a:solidFill>
                  <a:srgbClr val="24292E"/>
                </a:solidFill>
                <a:latin typeface="Menlo"/>
              </a:rPr>
              <a:t> </a:t>
            </a:r>
            <a:r>
              <a:rPr sz="1400">
                <a:solidFill>
                  <a:srgbClr val="0766C2"/>
                </a:solidFill>
                <a:latin typeface="Menlo"/>
              </a:rPr>
              <a:t>if</a:t>
            </a:r>
            <a:r>
              <a:rPr sz="1400">
                <a:solidFill>
                  <a:srgbClr val="24292E"/>
                </a:solidFill>
                <a:latin typeface="Menlo"/>
              </a:rPr>
              <a:t> </a:t>
            </a:r>
            <a:r>
              <a:rPr sz="1400">
                <a:solidFill>
                  <a:srgbClr val="4A4A4A"/>
                </a:solidFill>
                <a:latin typeface="Menlo"/>
              </a:rPr>
              <a:t>(</a:t>
            </a:r>
            <a:r>
              <a:rPr sz="1400">
                <a:solidFill>
                  <a:srgbClr val="24292E"/>
                </a:solidFill>
                <a:latin typeface="Menlo"/>
              </a:rPr>
              <a:t>i</a:t>
            </a:r>
            <a:r>
              <a:rPr sz="1400">
                <a:solidFill>
                  <a:srgbClr val="4A4A4A"/>
                </a:solidFill>
                <a:latin typeface="Menlo"/>
              </a:rPr>
              <a:t>.</a:t>
            </a:r>
            <a:r>
              <a:rPr sz="1400">
                <a:solidFill>
                  <a:srgbClr val="24292E"/>
                </a:solidFill>
                <a:latin typeface="Menlo"/>
              </a:rPr>
              <a:t>isEven</a:t>
            </a:r>
            <a:r>
              <a:rPr sz="1400">
                <a:solidFill>
                  <a:srgbClr val="4A4A4A"/>
                </a:solidFill>
                <a:latin typeface="Menlo"/>
              </a:rPr>
              <a:t>)</a:t>
            </a:r>
            <a:r>
              <a:rPr sz="1400">
                <a:solidFill>
                  <a:srgbClr val="24292E"/>
                </a:solidFill>
                <a:latin typeface="Menlo"/>
              </a:rPr>
              <a:t> </a:t>
            </a:r>
            <a:r>
              <a:rPr sz="1400">
                <a:solidFill>
                  <a:srgbClr val="0766C2"/>
                </a:solidFill>
                <a:latin typeface="Menlo"/>
              </a:rPr>
              <a:t>yield</a:t>
            </a:r>
            <a:r>
              <a:rPr sz="1400">
                <a:solidFill>
                  <a:srgbClr val="24292E"/>
                </a:solidFill>
                <a:latin typeface="Menlo"/>
              </a:rPr>
              <a:t> i</a:t>
            </a:r>
            <a:r>
              <a:rPr sz="1400">
                <a:solidFill>
                  <a:srgbClr val="4A4A4A"/>
                </a:solidFill>
                <a:latin typeface="Menlo"/>
              </a:rPr>
              <a:t>;</a:t>
            </a:r>
            <a:r>
              <a:rPr sz="1400">
                <a:solidFill>
                  <a:srgbClr val="24292E"/>
                </a:solidFill>
                <a:latin typeface="Menlo"/>
              </a:rPr>
              <a:t> </a:t>
            </a:r>
            <a:r>
              <a:rPr sz="1400">
                <a:solidFill>
                  <a:srgbClr val="4A4A4A"/>
                </a:solidFill>
                <a:latin typeface="Menlo"/>
              </a:rPr>
              <a:t>}</a:t>
            </a:r>
          </a:p>
          <a:p>
            <a:pPr algn="l">
              <a:spcAft>
                <a:spcPts val="0"/>
              </a:spcAft>
            </a:pPr>
            <a:r>
              <a:rPr sz="1400">
                <a:solidFill>
                  <a:srgbClr val="4A4A4A"/>
                </a:solidFill>
                <a:latin typeface="Menlo"/>
              </a:rPr>
              <a:t>}</a:t>
            </a:r>
          </a:p>
        </p:txBody>
      </p:sp>
      <p:sp>
        <p:nvSpPr>
          <p:cNvPr id="7" name="TextBox 6"/>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8" name="TextBox 7"/>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26 / 41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Part 5</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Modern Dart</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27 / 41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S23  ·  Null Safety</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Sound null safety since Dart 2.12 — the type system tracks null</a:t>
            </a:r>
          </a:p>
          <a:p>
            <a:pPr>
              <a:spcAft>
                <a:spcPts val="800"/>
              </a:spcAft>
            </a:pPr>
            <a:r>
              <a:rPr sz="1800">
                <a:solidFill>
                  <a:srgbClr val="1A1A1A"/>
                </a:solidFill>
                <a:latin typeface="Calibri"/>
              </a:rPr>
              <a:t>•  `String name` — never null</a:t>
            </a:r>
          </a:p>
          <a:p>
            <a:pPr>
              <a:spcAft>
                <a:spcPts val="800"/>
              </a:spcAft>
            </a:pPr>
            <a:r>
              <a:rPr sz="1800">
                <a:solidFill>
                  <a:srgbClr val="1A1A1A"/>
                </a:solidFill>
                <a:latin typeface="Calibri"/>
              </a:rPr>
              <a:t>•  `String? maybeName` — nullable, may be null</a:t>
            </a:r>
          </a:p>
          <a:p>
            <a:pPr>
              <a:spcAft>
                <a:spcPts val="800"/>
              </a:spcAft>
            </a:pPr>
            <a:r>
              <a:rPr sz="1800">
                <a:solidFill>
                  <a:srgbClr val="1A1A1A"/>
                </a:solidFill>
                <a:latin typeface="Calibri"/>
              </a:rPr>
              <a:t>•  `?.` — call only if non-null: `user?.name`</a:t>
            </a:r>
          </a:p>
          <a:p>
            <a:pPr>
              <a:spcAft>
                <a:spcPts val="800"/>
              </a:spcAft>
            </a:pPr>
            <a:r>
              <a:rPr sz="1800">
                <a:solidFill>
                  <a:srgbClr val="1A1A1A"/>
                </a:solidFill>
                <a:latin typeface="Calibri"/>
              </a:rPr>
              <a:t>•  `??` — default if null: `name ?? 'anon'`</a:t>
            </a:r>
          </a:p>
          <a:p>
            <a:pPr>
              <a:spcAft>
                <a:spcPts val="800"/>
              </a:spcAft>
            </a:pPr>
            <a:r>
              <a:rPr sz="1800">
                <a:solidFill>
                  <a:srgbClr val="1A1A1A"/>
                </a:solidFill>
                <a:latin typeface="Calibri"/>
              </a:rPr>
              <a:t>•  `!` — assert non-null at runtime (use carefully)</a:t>
            </a:r>
          </a:p>
          <a:p>
            <a:pPr>
              <a:spcAft>
                <a:spcPts val="800"/>
              </a:spcAft>
            </a:pPr>
            <a:r>
              <a:rPr sz="1800">
                <a:solidFill>
                  <a:srgbClr val="1A1A1A"/>
                </a:solidFill>
                <a:latin typeface="Calibri"/>
              </a:rPr>
              <a:t>•  `??=` — assign only if currently null</a:t>
            </a:r>
          </a:p>
        </p:txBody>
      </p:sp>
      <p:pic>
        <p:nvPicPr>
          <p:cNvPr id="5" name="Picture 4" descr="diagram_09.png"/>
          <p:cNvPicPr>
            <a:picLocks noChangeAspect="1"/>
          </p:cNvPicPr>
          <p:nvPr/>
        </p:nvPicPr>
        <p:blipFill>
          <a:blip r:embed="rId3"/>
          <a:stretch>
            <a:fillRect/>
          </a:stretch>
        </p:blipFill>
        <p:spPr>
          <a:xfrm>
            <a:off x="5331372" y="3520440"/>
            <a:ext cx="1528951"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28 / 41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S24  ·  Async/Await</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`Future&lt;T&gt;` — a placeholder for a value arriving later</a:t>
            </a:r>
          </a:p>
          <a:p>
            <a:pPr>
              <a:spcAft>
                <a:spcPts val="800"/>
              </a:spcAft>
            </a:pPr>
            <a:r>
              <a:rPr sz="1800">
                <a:solidFill>
                  <a:srgbClr val="1A1A1A"/>
                </a:solidFill>
                <a:latin typeface="Calibri"/>
              </a:rPr>
              <a:t>•  `async` — function returns a `Future` and may use `await`</a:t>
            </a:r>
          </a:p>
          <a:p>
            <a:pPr>
              <a:spcAft>
                <a:spcPts val="800"/>
              </a:spcAft>
            </a:pPr>
            <a:r>
              <a:rPr sz="1800">
                <a:solidFill>
                  <a:srgbClr val="1A1A1A"/>
                </a:solidFill>
                <a:latin typeface="Calibri"/>
              </a:rPr>
              <a:t>•  `await` — pauses the function until the `Future` completes</a:t>
            </a:r>
          </a:p>
          <a:p>
            <a:pPr>
              <a:spcAft>
                <a:spcPts val="800"/>
              </a:spcAft>
            </a:pPr>
            <a:r>
              <a:rPr sz="1800">
                <a:solidFill>
                  <a:srgbClr val="1A1A1A"/>
                </a:solidFill>
                <a:latin typeface="Calibri"/>
              </a:rPr>
              <a:t>•  Single-threaded event loop — interleaves awaiting tasks</a:t>
            </a:r>
          </a:p>
          <a:p>
            <a:pPr>
              <a:spcAft>
                <a:spcPts val="800"/>
              </a:spcAft>
            </a:pPr>
            <a:r>
              <a:rPr sz="1800">
                <a:solidFill>
                  <a:srgbClr val="1A1A1A"/>
                </a:solidFill>
                <a:latin typeface="Calibri"/>
              </a:rPr>
              <a:t>•  `Stream&lt;T&gt;` for many async values over time</a:t>
            </a:r>
          </a:p>
          <a:p>
            <a:pPr>
              <a:spcAft>
                <a:spcPts val="800"/>
              </a:spcAft>
            </a:pPr>
            <a:r>
              <a:rPr sz="1800">
                <a:solidFill>
                  <a:srgbClr val="1A1A1A"/>
                </a:solidFill>
                <a:latin typeface="Calibri"/>
              </a:rPr>
              <a:t>•  True parallelism via `Isolate`</a:t>
            </a:r>
          </a:p>
        </p:txBody>
      </p:sp>
      <p:pic>
        <p:nvPicPr>
          <p:cNvPr id="5" name="Picture 4" descr="diagram_08.png"/>
          <p:cNvPicPr>
            <a:picLocks noChangeAspect="1"/>
          </p:cNvPicPr>
          <p:nvPr/>
        </p:nvPicPr>
        <p:blipFill>
          <a:blip r:embed="rId3"/>
          <a:stretch>
            <a:fillRect/>
          </a:stretch>
        </p:blipFill>
        <p:spPr>
          <a:xfrm>
            <a:off x="3933935" y="3520440"/>
            <a:ext cx="4323824"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29 / 41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S25  ·  Mixins</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A `mixin` is a bundle of methods you drop into a class</a:t>
            </a:r>
          </a:p>
          <a:p>
            <a:pPr>
              <a:spcAft>
                <a:spcPts val="800"/>
              </a:spcAft>
            </a:pPr>
            <a:r>
              <a:rPr sz="1800">
                <a:solidFill>
                  <a:srgbClr val="1A1A1A"/>
                </a:solidFill>
                <a:latin typeface="Calibri"/>
              </a:rPr>
              <a:t>•  Apply with `with`: `class Bird extends Animal with Flyer, Singer`</a:t>
            </a:r>
          </a:p>
          <a:p>
            <a:pPr>
              <a:spcAft>
                <a:spcPts val="800"/>
              </a:spcAft>
            </a:pPr>
            <a:r>
              <a:rPr sz="1800">
                <a:solidFill>
                  <a:srgbClr val="1A1A1A"/>
                </a:solidFill>
                <a:latin typeface="Calibri"/>
              </a:rPr>
              <a:t>•  Reuse code from many sources without classic multiple inheritance</a:t>
            </a:r>
          </a:p>
          <a:p>
            <a:pPr>
              <a:spcAft>
                <a:spcPts val="800"/>
              </a:spcAft>
            </a:pPr>
            <a:r>
              <a:rPr sz="1800">
                <a:solidFill>
                  <a:srgbClr val="1A1A1A"/>
                </a:solidFill>
                <a:latin typeface="Calibri"/>
              </a:rPr>
              <a:t>•  `on Type` clause restricts where a mixin can be applied</a:t>
            </a:r>
          </a:p>
          <a:p>
            <a:pPr>
              <a:spcAft>
                <a:spcPts val="800"/>
              </a:spcAft>
            </a:pPr>
            <a:r>
              <a:rPr sz="1800">
                <a:solidFill>
                  <a:srgbClr val="1A1A1A"/>
                </a:solidFill>
                <a:latin typeface="Calibri"/>
              </a:rPr>
              <a:t>•  Dart 3 `mixin class`: extend or mix in</a:t>
            </a:r>
          </a:p>
        </p:txBody>
      </p:sp>
      <p:pic>
        <p:nvPicPr>
          <p:cNvPr id="5" name="Picture 4" descr="diagram_07.png"/>
          <p:cNvPicPr>
            <a:picLocks noChangeAspect="1"/>
          </p:cNvPicPr>
          <p:nvPr/>
        </p:nvPicPr>
        <p:blipFill>
          <a:blip r:embed="rId3"/>
          <a:stretch>
            <a:fillRect/>
          </a:stretch>
        </p:blipFill>
        <p:spPr>
          <a:xfrm>
            <a:off x="4787916" y="3520440"/>
            <a:ext cx="2615863"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30 / 41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S26  ·  Records &amp; Patterns (Dart 3)</a:t>
            </a:r>
          </a:p>
        </p:txBody>
      </p:sp>
      <p:sp>
        <p:nvSpPr>
          <p:cNvPr id="4" name="TextBox 3"/>
          <p:cNvSpPr txBox="1"/>
          <p:nvPr/>
        </p:nvSpPr>
        <p:spPr>
          <a:xfrm>
            <a:off x="548640" y="1188720"/>
            <a:ext cx="11064240" cy="2194560"/>
          </a:xfrm>
          <a:prstGeom prst="rect">
            <a:avLst/>
          </a:prstGeom>
          <a:noFill/>
        </p:spPr>
        <p:txBody>
          <a:bodyPr wrap="square">
            <a:spAutoFit/>
          </a:bodyPr>
          <a:lstStyle/>
          <a:p>
            <a:pPr>
              <a:spcAft>
                <a:spcPts val="800"/>
              </a:spcAft>
            </a:pPr>
            <a:r>
              <a:rPr sz="1800">
                <a:solidFill>
                  <a:srgbClr val="1A1A1A"/>
                </a:solidFill>
                <a:latin typeface="Calibri"/>
              </a:rPr>
              <a:t>•  Record = anonymous, fixed-size group of values: `(int, String)`</a:t>
            </a:r>
          </a:p>
          <a:p>
            <a:pPr>
              <a:spcAft>
                <a:spcPts val="800"/>
              </a:spcAft>
            </a:pPr>
            <a:r>
              <a:rPr sz="1800">
                <a:solidFill>
                  <a:srgbClr val="1A1A1A"/>
                </a:solidFill>
                <a:latin typeface="Calibri"/>
              </a:rPr>
              <a:t>•  Positional and named fields: `(1, name: 'Ada')`</a:t>
            </a:r>
          </a:p>
          <a:p>
            <a:pPr>
              <a:spcAft>
                <a:spcPts val="800"/>
              </a:spcAft>
            </a:pPr>
            <a:r>
              <a:rPr sz="1800">
                <a:solidFill>
                  <a:srgbClr val="1A1A1A"/>
                </a:solidFill>
                <a:latin typeface="Calibri"/>
              </a:rPr>
              <a:t>•  Destructure with patterns: `var (x, y) = point;`</a:t>
            </a:r>
          </a:p>
          <a:p>
            <a:pPr>
              <a:spcAft>
                <a:spcPts val="800"/>
              </a:spcAft>
            </a:pPr>
            <a:r>
              <a:rPr sz="1800">
                <a:solidFill>
                  <a:srgbClr val="1A1A1A"/>
                </a:solidFill>
                <a:latin typeface="Calibri"/>
              </a:rPr>
              <a:t>•  Pattern matching in `switch` for clean branching</a:t>
            </a:r>
          </a:p>
          <a:p>
            <a:pPr>
              <a:spcAft>
                <a:spcPts val="800"/>
              </a:spcAft>
            </a:pPr>
            <a:r>
              <a:rPr sz="1800">
                <a:solidFill>
                  <a:srgbClr val="1A1A1A"/>
                </a:solidFill>
                <a:latin typeface="Calibri"/>
              </a:rPr>
              <a:t>•  Built-in equality and hash — equal-fields means equal records</a:t>
            </a:r>
          </a:p>
        </p:txBody>
      </p:sp>
      <p:pic>
        <p:nvPicPr>
          <p:cNvPr id="5" name="Picture 4" descr="diagram_10.png"/>
          <p:cNvPicPr>
            <a:picLocks noChangeAspect="1"/>
          </p:cNvPicPr>
          <p:nvPr/>
        </p:nvPicPr>
        <p:blipFill>
          <a:blip r:embed="rId3"/>
          <a:stretch>
            <a:fillRect/>
          </a:stretch>
        </p:blipFill>
        <p:spPr>
          <a:xfrm>
            <a:off x="5123082" y="3520440"/>
            <a:ext cx="1945531" cy="2743200"/>
          </a:xfrm>
          <a:prstGeom prst="rect">
            <a:avLst/>
          </a:prstGeom>
        </p:spPr>
      </p:pic>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31 / 41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S27  ·  Extension Methods</a:t>
            </a:r>
          </a:p>
        </p:txBody>
      </p:sp>
      <p:sp>
        <p:nvSpPr>
          <p:cNvPr id="4" name="TextBox 3"/>
          <p:cNvSpPr txBox="1"/>
          <p:nvPr/>
        </p:nvSpPr>
        <p:spPr>
          <a:xfrm>
            <a:off x="548640" y="1188720"/>
            <a:ext cx="11064240" cy="2377440"/>
          </a:xfrm>
          <a:prstGeom prst="rect">
            <a:avLst/>
          </a:prstGeom>
          <a:noFill/>
        </p:spPr>
        <p:txBody>
          <a:bodyPr wrap="square">
            <a:spAutoFit/>
          </a:bodyPr>
          <a:lstStyle/>
          <a:p>
            <a:pPr>
              <a:spcAft>
                <a:spcPts val="800"/>
              </a:spcAft>
            </a:pPr>
            <a:r>
              <a:rPr sz="1800">
                <a:solidFill>
                  <a:srgbClr val="1A1A1A"/>
                </a:solidFill>
                <a:latin typeface="Calibri"/>
              </a:rPr>
              <a:t>•  Add new methods to **existing** types — even types you do not own</a:t>
            </a:r>
          </a:p>
          <a:p>
            <a:pPr>
              <a:spcAft>
                <a:spcPts val="800"/>
              </a:spcAft>
            </a:pPr>
            <a:r>
              <a:rPr sz="1800">
                <a:solidFill>
                  <a:srgbClr val="1A1A1A"/>
                </a:solidFill>
                <a:latin typeface="Calibri"/>
              </a:rPr>
              <a:t>•  Works on `String`, `int`, `List`, framework types, anything</a:t>
            </a:r>
          </a:p>
          <a:p>
            <a:pPr>
              <a:spcAft>
                <a:spcPts val="800"/>
              </a:spcAft>
            </a:pPr>
            <a:r>
              <a:rPr sz="1800">
                <a:solidFill>
                  <a:srgbClr val="1A1A1A"/>
                </a:solidFill>
                <a:latin typeface="Calibri"/>
              </a:rPr>
              <a:t>•  Defined with the `extension` keyword</a:t>
            </a:r>
          </a:p>
          <a:p>
            <a:pPr>
              <a:spcAft>
                <a:spcPts val="800"/>
              </a:spcAft>
            </a:pPr>
            <a:r>
              <a:rPr sz="1800">
                <a:solidFill>
                  <a:srgbClr val="1A1A1A"/>
                </a:solidFill>
                <a:latin typeface="Calibri"/>
              </a:rPr>
              <a:t>•  Statically resolved — no runtime overhead, no monkey-patching</a:t>
            </a:r>
          </a:p>
          <a:p>
            <a:pPr>
              <a:spcAft>
                <a:spcPts val="800"/>
              </a:spcAft>
            </a:pPr>
            <a:r>
              <a:rPr sz="1800">
                <a:solidFill>
                  <a:srgbClr val="1A1A1A"/>
                </a:solidFill>
                <a:latin typeface="Calibri"/>
              </a:rPr>
              <a:t>•  Can also add getters, setters, and operators</a:t>
            </a:r>
          </a:p>
        </p:txBody>
      </p:sp>
      <p:sp>
        <p:nvSpPr>
          <p:cNvPr id="5" name="Rounded Rectangle 4"/>
          <p:cNvSpPr/>
          <p:nvPr/>
        </p:nvSpPr>
        <p:spPr>
          <a:xfrm>
            <a:off x="640080" y="3749039"/>
            <a:ext cx="10881360" cy="2468880"/>
          </a:xfrm>
          <a:prstGeom prst="roundRect">
            <a:avLst/>
          </a:prstGeom>
          <a:solidFill>
            <a:srgbClr val="F6F8F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3858768"/>
            <a:ext cx="10552176" cy="2249424"/>
          </a:xfrm>
          <a:prstGeom prst="rect">
            <a:avLst/>
          </a:prstGeom>
          <a:noFill/>
        </p:spPr>
        <p:txBody>
          <a:bodyPr wrap="none">
            <a:spAutoFit/>
          </a:bodyPr>
          <a:lstStyle/>
          <a:p>
            <a:pPr algn="l">
              <a:spcAft>
                <a:spcPts val="0"/>
              </a:spcAft>
            </a:pPr>
            <a:r>
              <a:rPr sz="1400">
                <a:solidFill>
                  <a:srgbClr val="0766C2"/>
                </a:solidFill>
                <a:latin typeface="Menlo"/>
              </a:rPr>
              <a:t>extension</a:t>
            </a:r>
            <a:r>
              <a:rPr sz="1400">
                <a:solidFill>
                  <a:srgbClr val="24292E"/>
                </a:solidFill>
                <a:latin typeface="Menlo"/>
              </a:rPr>
              <a:t> </a:t>
            </a:r>
            <a:r>
              <a:rPr sz="1400">
                <a:solidFill>
                  <a:srgbClr val="6F42C1"/>
                </a:solidFill>
                <a:latin typeface="Menlo"/>
              </a:rPr>
              <a:t>Shout</a:t>
            </a:r>
            <a:r>
              <a:rPr sz="1400">
                <a:solidFill>
                  <a:srgbClr val="24292E"/>
                </a:solidFill>
                <a:latin typeface="Menlo"/>
              </a:rPr>
              <a:t> </a:t>
            </a:r>
            <a:r>
              <a:rPr sz="1400">
                <a:solidFill>
                  <a:srgbClr val="0766C2"/>
                </a:solidFill>
                <a:latin typeface="Menlo"/>
              </a:rPr>
              <a:t>on</a:t>
            </a:r>
            <a:r>
              <a:rPr sz="1400">
                <a:solidFill>
                  <a:srgbClr val="24292E"/>
                </a:solidFill>
                <a:latin typeface="Menlo"/>
              </a:rPr>
              <a:t> </a:t>
            </a:r>
            <a:r>
              <a:rPr sz="1400">
                <a:solidFill>
                  <a:srgbClr val="0766C2"/>
                </a:solidFill>
                <a:latin typeface="Menlo"/>
              </a:rPr>
              <a:t>String</a:t>
            </a:r>
            <a:r>
              <a:rPr sz="1400">
                <a:solidFill>
                  <a:srgbClr val="24292E"/>
                </a:solidFill>
                <a:latin typeface="Menlo"/>
              </a:rPr>
              <a:t> </a:t>
            </a:r>
            <a:r>
              <a:rPr sz="1400">
                <a:solidFill>
                  <a:srgbClr val="4A4A4A"/>
                </a:solidFill>
                <a:latin typeface="Menlo"/>
              </a:rPr>
              <a:t>{</a:t>
            </a:r>
          </a:p>
          <a:p>
            <a:pPr algn="l">
              <a:spcAft>
                <a:spcPts val="0"/>
              </a:spcAft>
            </a:pPr>
            <a:r>
              <a:rPr sz="1400">
                <a:solidFill>
                  <a:srgbClr val="24292E"/>
                </a:solidFill>
                <a:latin typeface="Menlo"/>
              </a:rPr>
              <a:t>  </a:t>
            </a:r>
            <a:r>
              <a:rPr sz="1400">
                <a:solidFill>
                  <a:srgbClr val="0766C2"/>
                </a:solidFill>
                <a:latin typeface="Menlo"/>
              </a:rPr>
              <a:t>String</a:t>
            </a:r>
            <a:r>
              <a:rPr sz="1400">
                <a:solidFill>
                  <a:srgbClr val="24292E"/>
                </a:solidFill>
                <a:latin typeface="Menlo"/>
              </a:rPr>
              <a:t> shout</a:t>
            </a:r>
            <a:r>
              <a:rPr sz="1400">
                <a:solidFill>
                  <a:srgbClr val="4A4A4A"/>
                </a:solidFill>
                <a:latin typeface="Menlo"/>
              </a:rPr>
              <a:t>()</a:t>
            </a:r>
            <a:r>
              <a:rPr sz="1400">
                <a:solidFill>
                  <a:srgbClr val="24292E"/>
                </a:solidFill>
                <a:latin typeface="Menlo"/>
              </a:rPr>
              <a:t> </a:t>
            </a:r>
            <a:r>
              <a:rPr sz="1400">
                <a:solidFill>
                  <a:srgbClr val="4A4A4A"/>
                </a:solidFill>
                <a:latin typeface="Menlo"/>
              </a:rPr>
              <a:t>=&gt;</a:t>
            </a:r>
            <a:r>
              <a:rPr sz="1400">
                <a:solidFill>
                  <a:srgbClr val="24292E"/>
                </a:solidFill>
                <a:latin typeface="Menlo"/>
              </a:rPr>
              <a:t> </a:t>
            </a:r>
            <a:r>
              <a:rPr sz="1400">
                <a:solidFill>
                  <a:srgbClr val="038837"/>
                </a:solidFill>
                <a:latin typeface="Menlo"/>
              </a:rPr>
              <a:t>'${</a:t>
            </a:r>
            <a:r>
              <a:rPr sz="1400">
                <a:solidFill>
                  <a:srgbClr val="24292E"/>
                </a:solidFill>
                <a:latin typeface="Menlo"/>
              </a:rPr>
              <a:t>toUpperCase</a:t>
            </a:r>
            <a:r>
              <a:rPr sz="1400">
                <a:solidFill>
                  <a:srgbClr val="4A4A4A"/>
                </a:solidFill>
                <a:latin typeface="Menlo"/>
              </a:rPr>
              <a:t>()</a:t>
            </a:r>
            <a:r>
              <a:rPr sz="1400">
                <a:solidFill>
                  <a:srgbClr val="038837"/>
                </a:solidFill>
                <a:latin typeface="Menlo"/>
              </a:rPr>
              <a:t>}!'</a:t>
            </a:r>
            <a:r>
              <a:rPr sz="1400">
                <a:solidFill>
                  <a:srgbClr val="4A4A4A"/>
                </a:solidFill>
                <a:latin typeface="Menlo"/>
              </a:rPr>
              <a:t>;</a:t>
            </a:r>
          </a:p>
          <a:p>
            <a:pPr algn="l">
              <a:spcAft>
                <a:spcPts val="0"/>
              </a:spcAft>
            </a:pPr>
            <a:r>
              <a:rPr sz="1400">
                <a:solidFill>
                  <a:srgbClr val="4A4A4A"/>
                </a:solidFill>
                <a:latin typeface="Menlo"/>
              </a:rPr>
              <a:t>}</a:t>
            </a:r>
          </a:p>
          <a:p>
            <a:pPr algn="l">
              <a:spcAft>
                <a:spcPts val="0"/>
              </a:spcAft>
            </a:pPr>
            <a:r>
              <a:rPr sz="1400">
                <a:solidFill>
                  <a:srgbClr val="038837"/>
                </a:solidFill>
                <a:latin typeface="Menlo"/>
              </a:rPr>
              <a:t>'hello'</a:t>
            </a:r>
            <a:r>
              <a:rPr sz="1400">
                <a:solidFill>
                  <a:srgbClr val="4A4A4A"/>
                </a:solidFill>
                <a:latin typeface="Menlo"/>
              </a:rPr>
              <a:t>.</a:t>
            </a:r>
            <a:r>
              <a:rPr sz="1400">
                <a:solidFill>
                  <a:srgbClr val="24292E"/>
                </a:solidFill>
                <a:latin typeface="Menlo"/>
              </a:rPr>
              <a:t>shout</a:t>
            </a:r>
            <a:r>
              <a:rPr sz="1400">
                <a:solidFill>
                  <a:srgbClr val="4A4A4A"/>
                </a:solidFill>
                <a:latin typeface="Menlo"/>
              </a:rPr>
              <a:t>();</a:t>
            </a:r>
            <a:r>
              <a:rPr sz="1400">
                <a:solidFill>
                  <a:srgbClr val="24292E"/>
                </a:solidFill>
                <a:latin typeface="Menlo"/>
              </a:rPr>
              <a:t> </a:t>
            </a:r>
            <a:r>
              <a:rPr sz="1400">
                <a:solidFill>
                  <a:srgbClr val="6A737D"/>
                </a:solidFill>
                <a:latin typeface="Menlo"/>
              </a:rPr>
              <a:t>// HELLO!</a:t>
            </a:r>
          </a:p>
        </p:txBody>
      </p:sp>
      <p:sp>
        <p:nvSpPr>
          <p:cNvPr id="7" name="TextBox 6"/>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8" name="TextBox 7"/>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32 / 41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267047" y="2286000"/>
            <a:ext cx="3657600" cy="54864"/>
          </a:xfrm>
          <a:prstGeom prst="rect">
            <a:avLst/>
          </a:prstGeom>
          <a:solidFill>
            <a:srgbClr val="C8E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468880"/>
            <a:ext cx="11247120" cy="640080"/>
          </a:xfrm>
          <a:prstGeom prst="rect">
            <a:avLst/>
          </a:prstGeom>
          <a:noFill/>
        </p:spPr>
        <p:txBody>
          <a:bodyPr wrap="none">
            <a:spAutoFit/>
          </a:bodyPr>
          <a:lstStyle/>
          <a:p>
            <a:pPr algn="ctr"/>
            <a:r>
              <a:rPr sz="2800" b="0">
                <a:solidFill>
                  <a:srgbClr val="C8E5F7"/>
                </a:solidFill>
                <a:latin typeface="Calibri"/>
              </a:rPr>
              <a:t>Quiz Time</a:t>
            </a:r>
          </a:p>
        </p:txBody>
      </p:sp>
      <p:sp>
        <p:nvSpPr>
          <p:cNvPr id="5" name="TextBox 4"/>
          <p:cNvSpPr txBox="1"/>
          <p:nvPr/>
        </p:nvSpPr>
        <p:spPr>
          <a:xfrm>
            <a:off x="457200" y="3200400"/>
            <a:ext cx="11247120" cy="1828800"/>
          </a:xfrm>
          <a:prstGeom prst="rect">
            <a:avLst/>
          </a:prstGeom>
          <a:noFill/>
        </p:spPr>
        <p:txBody>
          <a:bodyPr wrap="none">
            <a:spAutoFit/>
          </a:bodyPr>
          <a:lstStyle/>
          <a:p>
            <a:pPr algn="ctr"/>
            <a:r>
              <a:rPr sz="6400" b="1">
                <a:solidFill>
                  <a:srgbClr val="FFFFFF"/>
                </a:solidFill>
                <a:latin typeface="Calibri"/>
              </a:rPr>
              <a:t>Test Your Knowledge</a:t>
            </a:r>
          </a:p>
        </p:txBody>
      </p:sp>
      <p:sp>
        <p:nvSpPr>
          <p:cNvPr id="6" name="TextBox 5"/>
          <p:cNvSpPr txBox="1"/>
          <p:nvPr/>
        </p:nvSpPr>
        <p:spPr>
          <a:xfrm>
            <a:off x="457200" y="6446520"/>
            <a:ext cx="11247120" cy="320040"/>
          </a:xfrm>
          <a:prstGeom prst="rect">
            <a:avLst/>
          </a:prstGeom>
          <a:noFill/>
        </p:spPr>
        <p:txBody>
          <a:bodyPr wrap="none">
            <a:spAutoFit/>
          </a:bodyPr>
          <a:lstStyle/>
          <a:p>
            <a:pPr algn="r"/>
            <a:r>
              <a:rPr sz="1000" i="1">
                <a:solidFill>
                  <a:srgbClr val="C8E5F7"/>
                </a:solidFill>
                <a:latin typeface="Calibri"/>
              </a:rPr>
              <a:t>ICS 410 — Dart Tutorial   |   33 / 41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S28  ·  Quiz Q1 (Easy)</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**Q1.** Dart is primarily developed by which company?</a:t>
            </a:r>
          </a:p>
          <a:p>
            <a:pPr>
              <a:spcAft>
                <a:spcPts val="800"/>
              </a:spcAft>
            </a:pPr>
            <a:r>
              <a:rPr sz="2200">
                <a:solidFill>
                  <a:srgbClr val="1A1A1A"/>
                </a:solidFill>
                <a:latin typeface="Calibri"/>
              </a:rPr>
              <a:t>•  A. Microsoft</a:t>
            </a:r>
          </a:p>
          <a:p>
            <a:pPr>
              <a:spcAft>
                <a:spcPts val="800"/>
              </a:spcAft>
            </a:pPr>
            <a:r>
              <a:rPr sz="2200">
                <a:solidFill>
                  <a:srgbClr val="1A1A1A"/>
                </a:solidFill>
                <a:latin typeface="Calibri"/>
              </a:rPr>
              <a:t>•  B. Google</a:t>
            </a:r>
          </a:p>
          <a:p>
            <a:pPr>
              <a:spcAft>
                <a:spcPts val="800"/>
              </a:spcAft>
            </a:pPr>
            <a:r>
              <a:rPr sz="2200">
                <a:solidFill>
                  <a:srgbClr val="1A1A1A"/>
                </a:solidFill>
                <a:latin typeface="Calibri"/>
              </a:rPr>
              <a:t>•  C. JetBrains</a:t>
            </a:r>
          </a:p>
          <a:p>
            <a:pPr>
              <a:spcAft>
                <a:spcPts val="800"/>
              </a:spcAft>
            </a:pPr>
            <a:r>
              <a:rPr sz="2200">
                <a:solidFill>
                  <a:srgbClr val="1A1A1A"/>
                </a:solidFill>
                <a:latin typeface="Calibri"/>
              </a:rPr>
              <a:t>•  D. Mozilla</a:t>
            </a:r>
          </a:p>
          <a:p>
            <a:pPr>
              <a:spcAft>
                <a:spcPts val="800"/>
              </a:spcAft>
            </a:pPr>
            <a:r>
              <a:rPr sz="2200">
                <a:solidFill>
                  <a:srgbClr val="1A1A1A"/>
                </a:solidFill>
                <a:latin typeface="Calibri"/>
              </a:rPr>
              <a:t>•  Difficulty: Easy</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34 / 41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S29  ·  Quiz Q2 (Easy)</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**Q2.** Which keyword declares a compile-time constant in Dart?</a:t>
            </a:r>
          </a:p>
          <a:p>
            <a:pPr>
              <a:spcAft>
                <a:spcPts val="800"/>
              </a:spcAft>
            </a:pPr>
            <a:r>
              <a:rPr sz="2200">
                <a:solidFill>
                  <a:srgbClr val="1A1A1A"/>
                </a:solidFill>
                <a:latin typeface="Calibri"/>
              </a:rPr>
              <a:t>•  A. `var`</a:t>
            </a:r>
          </a:p>
          <a:p>
            <a:pPr>
              <a:spcAft>
                <a:spcPts val="800"/>
              </a:spcAft>
            </a:pPr>
            <a:r>
              <a:rPr sz="2200">
                <a:solidFill>
                  <a:srgbClr val="1A1A1A"/>
                </a:solidFill>
                <a:latin typeface="Calibri"/>
              </a:rPr>
              <a:t>•  B. `final`</a:t>
            </a:r>
          </a:p>
          <a:p>
            <a:pPr>
              <a:spcAft>
                <a:spcPts val="800"/>
              </a:spcAft>
            </a:pPr>
            <a:r>
              <a:rPr sz="2200">
                <a:solidFill>
                  <a:srgbClr val="1A1A1A"/>
                </a:solidFill>
                <a:latin typeface="Calibri"/>
              </a:rPr>
              <a:t>•  C. `const`</a:t>
            </a:r>
          </a:p>
          <a:p>
            <a:pPr>
              <a:spcAft>
                <a:spcPts val="800"/>
              </a:spcAft>
            </a:pPr>
            <a:r>
              <a:rPr sz="2200">
                <a:solidFill>
                  <a:srgbClr val="1A1A1A"/>
                </a:solidFill>
                <a:latin typeface="Calibri"/>
              </a:rPr>
              <a:t>•  D. `late`</a:t>
            </a:r>
          </a:p>
          <a:p>
            <a:pPr>
              <a:spcAft>
                <a:spcPts val="800"/>
              </a:spcAft>
            </a:pPr>
            <a:r>
              <a:rPr sz="2200">
                <a:solidFill>
                  <a:srgbClr val="1A1A1A"/>
                </a:solidFill>
                <a:latin typeface="Calibri"/>
              </a:rPr>
              <a:t>•  Difficulty: Easy</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35 / 41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S30  ·  Quiz Q3 (Medium)</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**Q3.** In Dart, function arguments are passed by…</a:t>
            </a:r>
          </a:p>
          <a:p>
            <a:pPr>
              <a:spcAft>
                <a:spcPts val="800"/>
              </a:spcAft>
            </a:pPr>
            <a:r>
              <a:rPr sz="2200">
                <a:solidFill>
                  <a:srgbClr val="1A1A1A"/>
                </a:solidFill>
                <a:latin typeface="Calibri"/>
              </a:rPr>
              <a:t>•  A. Pure value</a:t>
            </a:r>
          </a:p>
          <a:p>
            <a:pPr>
              <a:spcAft>
                <a:spcPts val="800"/>
              </a:spcAft>
            </a:pPr>
            <a:r>
              <a:rPr sz="2200">
                <a:solidFill>
                  <a:srgbClr val="1A1A1A"/>
                </a:solidFill>
                <a:latin typeface="Calibri"/>
              </a:rPr>
              <a:t>•  B. Pure reference</a:t>
            </a:r>
          </a:p>
          <a:p>
            <a:pPr>
              <a:spcAft>
                <a:spcPts val="800"/>
              </a:spcAft>
            </a:pPr>
            <a:r>
              <a:rPr sz="2200">
                <a:solidFill>
                  <a:srgbClr val="1A1A1A"/>
                </a:solidFill>
                <a:latin typeface="Calibri"/>
              </a:rPr>
              <a:t>•  C. Value of the reference</a:t>
            </a:r>
          </a:p>
          <a:p>
            <a:pPr>
              <a:spcAft>
                <a:spcPts val="800"/>
              </a:spcAft>
            </a:pPr>
            <a:r>
              <a:rPr sz="2200">
                <a:solidFill>
                  <a:srgbClr val="1A1A1A"/>
                </a:solidFill>
                <a:latin typeface="Calibri"/>
              </a:rPr>
              <a:t>•  D. Name</a:t>
            </a:r>
          </a:p>
          <a:p>
            <a:pPr>
              <a:spcAft>
                <a:spcPts val="800"/>
              </a:spcAft>
            </a:pPr>
            <a:r>
              <a:rPr sz="2200">
                <a:solidFill>
                  <a:srgbClr val="1A1A1A"/>
                </a:solidFill>
                <a:latin typeface="Calibri"/>
              </a:rPr>
              <a:t>•  Difficulty: Medium</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36 / 41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S31  ·  Quiz Q4 (Medium)</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**Q4.** Which mechanism lets a Dart class reuse code from multiple sources without traditional multiple inheritance?</a:t>
            </a:r>
          </a:p>
          <a:p>
            <a:pPr>
              <a:spcAft>
                <a:spcPts val="800"/>
              </a:spcAft>
            </a:pPr>
            <a:r>
              <a:rPr sz="2200">
                <a:solidFill>
                  <a:srgbClr val="1A1A1A"/>
                </a:solidFill>
                <a:latin typeface="Calibri"/>
              </a:rPr>
              <a:t>•  A. `extends`</a:t>
            </a:r>
          </a:p>
          <a:p>
            <a:pPr>
              <a:spcAft>
                <a:spcPts val="800"/>
              </a:spcAft>
            </a:pPr>
            <a:r>
              <a:rPr sz="2200">
                <a:solidFill>
                  <a:srgbClr val="1A1A1A"/>
                </a:solidFill>
                <a:latin typeface="Calibri"/>
              </a:rPr>
              <a:t>•  B. `implements`</a:t>
            </a:r>
          </a:p>
          <a:p>
            <a:pPr>
              <a:spcAft>
                <a:spcPts val="800"/>
              </a:spcAft>
            </a:pPr>
            <a:r>
              <a:rPr sz="2200">
                <a:solidFill>
                  <a:srgbClr val="1A1A1A"/>
                </a:solidFill>
                <a:latin typeface="Calibri"/>
              </a:rPr>
              <a:t>•  C. `with` (mixins)</a:t>
            </a:r>
          </a:p>
          <a:p>
            <a:pPr>
              <a:spcAft>
                <a:spcPts val="800"/>
              </a:spcAft>
            </a:pPr>
            <a:r>
              <a:rPr sz="2200">
                <a:solidFill>
                  <a:srgbClr val="1A1A1A"/>
                </a:solidFill>
                <a:latin typeface="Calibri"/>
              </a:rPr>
              <a:t>•  D. `as`</a:t>
            </a:r>
          </a:p>
          <a:p>
            <a:pPr>
              <a:spcAft>
                <a:spcPts val="800"/>
              </a:spcAft>
            </a:pPr>
            <a:r>
              <a:rPr sz="2200">
                <a:solidFill>
                  <a:srgbClr val="1A1A1A"/>
                </a:solidFill>
                <a:latin typeface="Calibri"/>
              </a:rPr>
              <a:t>•  Difficulty: Medium</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37 / 41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S32  ·  Quiz Q5 (Hard)</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**Q5.** What does a `sync*` function return?</a:t>
            </a:r>
          </a:p>
          <a:p>
            <a:pPr>
              <a:spcAft>
                <a:spcPts val="800"/>
              </a:spcAft>
            </a:pPr>
            <a:r>
              <a:rPr sz="2200">
                <a:solidFill>
                  <a:srgbClr val="1A1A1A"/>
                </a:solidFill>
                <a:latin typeface="Calibri"/>
              </a:rPr>
              <a:t>•  A. `Future`</a:t>
            </a:r>
          </a:p>
          <a:p>
            <a:pPr>
              <a:spcAft>
                <a:spcPts val="800"/>
              </a:spcAft>
            </a:pPr>
            <a:r>
              <a:rPr sz="2200">
                <a:solidFill>
                  <a:srgbClr val="1A1A1A"/>
                </a:solidFill>
                <a:latin typeface="Calibri"/>
              </a:rPr>
              <a:t>•  B. `Iterable` lazily produced via `yield`</a:t>
            </a:r>
          </a:p>
          <a:p>
            <a:pPr>
              <a:spcAft>
                <a:spcPts val="800"/>
              </a:spcAft>
            </a:pPr>
            <a:r>
              <a:rPr sz="2200">
                <a:solidFill>
                  <a:srgbClr val="1A1A1A"/>
                </a:solidFill>
                <a:latin typeface="Calibri"/>
              </a:rPr>
              <a:t>•  C. `Stream`</a:t>
            </a:r>
          </a:p>
          <a:p>
            <a:pPr>
              <a:spcAft>
                <a:spcPts val="800"/>
              </a:spcAft>
            </a:pPr>
            <a:r>
              <a:rPr sz="2200">
                <a:solidFill>
                  <a:srgbClr val="1A1A1A"/>
                </a:solidFill>
                <a:latin typeface="Calibri"/>
              </a:rPr>
              <a:t>•  D. `void`</a:t>
            </a:r>
          </a:p>
          <a:p>
            <a:pPr>
              <a:spcAft>
                <a:spcPts val="800"/>
              </a:spcAft>
            </a:pPr>
            <a:r>
              <a:rPr sz="2200">
                <a:solidFill>
                  <a:srgbClr val="1A1A1A"/>
                </a:solidFill>
                <a:latin typeface="Calibri"/>
              </a:rPr>
              <a:t>•  Difficulty: Hard</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38 / 41</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S33  ·  Quiz Q6 (Hard)</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**Q6.** What does `await` do to a `Future&lt;T&gt;`?</a:t>
            </a:r>
          </a:p>
          <a:p>
            <a:pPr>
              <a:spcAft>
                <a:spcPts val="800"/>
              </a:spcAft>
            </a:pPr>
            <a:r>
              <a:rPr sz="2200">
                <a:solidFill>
                  <a:srgbClr val="1A1A1A"/>
                </a:solidFill>
                <a:latin typeface="Calibri"/>
              </a:rPr>
              <a:t>•  A. Cancels it</a:t>
            </a:r>
          </a:p>
          <a:p>
            <a:pPr>
              <a:spcAft>
                <a:spcPts val="800"/>
              </a:spcAft>
            </a:pPr>
            <a:r>
              <a:rPr sz="2200">
                <a:solidFill>
                  <a:srgbClr val="1A1A1A"/>
                </a:solidFill>
                <a:latin typeface="Calibri"/>
              </a:rPr>
              <a:t>•  B. Converts it to T synchronously</a:t>
            </a:r>
          </a:p>
          <a:p>
            <a:pPr>
              <a:spcAft>
                <a:spcPts val="800"/>
              </a:spcAft>
            </a:pPr>
            <a:r>
              <a:rPr sz="2200">
                <a:solidFill>
                  <a:srgbClr val="1A1A1A"/>
                </a:solidFill>
                <a:latin typeface="Calibri"/>
              </a:rPr>
              <a:t>•  C. Suspends the async function until completion, then yields T</a:t>
            </a:r>
          </a:p>
          <a:p>
            <a:pPr>
              <a:spcAft>
                <a:spcPts val="800"/>
              </a:spcAft>
            </a:pPr>
            <a:r>
              <a:rPr sz="2200">
                <a:solidFill>
                  <a:srgbClr val="1A1A1A"/>
                </a:solidFill>
                <a:latin typeface="Calibri"/>
              </a:rPr>
              <a:t>•  D. Wraps T in another Future</a:t>
            </a:r>
          </a:p>
          <a:p>
            <a:pPr>
              <a:spcAft>
                <a:spcPts val="800"/>
              </a:spcAft>
            </a:pPr>
            <a:r>
              <a:rPr sz="2200">
                <a:solidFill>
                  <a:srgbClr val="1A1A1A"/>
                </a:solidFill>
                <a:latin typeface="Calibri"/>
              </a:rPr>
              <a:t>•  Difficulty: Hard</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39 / 41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20040"/>
            <a:ext cx="11247120" cy="777240"/>
          </a:xfrm>
          <a:prstGeom prst="rect">
            <a:avLst/>
          </a:prstGeom>
          <a:noFill/>
        </p:spPr>
        <p:txBody>
          <a:bodyPr wrap="square">
            <a:spAutoFit/>
          </a:bodyPr>
          <a:lstStyle/>
          <a:p>
            <a:pPr algn="l"/>
            <a:r>
              <a:rPr sz="3200" b="1">
                <a:solidFill>
                  <a:srgbClr val="042B59"/>
                </a:solidFill>
                <a:latin typeface="Calibri"/>
              </a:rPr>
              <a:t>S34  ·  Quiz Q7 (Medium)</a:t>
            </a:r>
          </a:p>
        </p:txBody>
      </p:sp>
      <p:sp>
        <p:nvSpPr>
          <p:cNvPr id="4" name="TextBox 3"/>
          <p:cNvSpPr txBox="1"/>
          <p:nvPr/>
        </p:nvSpPr>
        <p:spPr>
          <a:xfrm>
            <a:off x="548640" y="1280160"/>
            <a:ext cx="11064240" cy="4937760"/>
          </a:xfrm>
          <a:prstGeom prst="rect">
            <a:avLst/>
          </a:prstGeom>
          <a:noFill/>
        </p:spPr>
        <p:txBody>
          <a:bodyPr wrap="square">
            <a:spAutoFit/>
          </a:bodyPr>
          <a:lstStyle/>
          <a:p>
            <a:pPr>
              <a:spcAft>
                <a:spcPts val="800"/>
              </a:spcAft>
            </a:pPr>
            <a:r>
              <a:rPr sz="2200">
                <a:solidFill>
                  <a:srgbClr val="1A1A1A"/>
                </a:solidFill>
                <a:latin typeface="Calibri"/>
              </a:rPr>
              <a:t>•  **Q7.** Extension methods allow you to…</a:t>
            </a:r>
          </a:p>
          <a:p>
            <a:pPr>
              <a:spcAft>
                <a:spcPts val="800"/>
              </a:spcAft>
            </a:pPr>
            <a:r>
              <a:rPr sz="2200">
                <a:solidFill>
                  <a:srgbClr val="1A1A1A"/>
                </a:solidFill>
                <a:latin typeface="Calibri"/>
              </a:rPr>
              <a:t>•  A. Modify Dart's standard library source</a:t>
            </a:r>
          </a:p>
          <a:p>
            <a:pPr>
              <a:spcAft>
                <a:spcPts val="800"/>
              </a:spcAft>
            </a:pPr>
            <a:r>
              <a:rPr sz="2200">
                <a:solidFill>
                  <a:srgbClr val="1A1A1A"/>
                </a:solidFill>
                <a:latin typeface="Calibri"/>
              </a:rPr>
              <a:t>•  B. Add methods to existing types without subclassing</a:t>
            </a:r>
          </a:p>
          <a:p>
            <a:pPr>
              <a:spcAft>
                <a:spcPts val="800"/>
              </a:spcAft>
            </a:pPr>
            <a:r>
              <a:rPr sz="2200">
                <a:solidFill>
                  <a:srgbClr val="1A1A1A"/>
                </a:solidFill>
                <a:latin typeface="Calibri"/>
              </a:rPr>
              <a:t>•  C. Override private fields</a:t>
            </a:r>
          </a:p>
          <a:p>
            <a:pPr>
              <a:spcAft>
                <a:spcPts val="800"/>
              </a:spcAft>
            </a:pPr>
            <a:r>
              <a:rPr sz="2200">
                <a:solidFill>
                  <a:srgbClr val="1A1A1A"/>
                </a:solidFill>
                <a:latin typeface="Calibri"/>
              </a:rPr>
              <a:t>•  D. Replace mixins</a:t>
            </a:r>
          </a:p>
          <a:p>
            <a:pPr>
              <a:spcAft>
                <a:spcPts val="800"/>
              </a:spcAft>
            </a:pPr>
            <a:r>
              <a:rPr sz="2200">
                <a:solidFill>
                  <a:srgbClr val="1A1A1A"/>
                </a:solidFill>
                <a:latin typeface="Calibri"/>
              </a:rPr>
              <a:t>•  Difficulty: Medium</a:t>
            </a:r>
          </a:p>
        </p:txBody>
      </p:sp>
      <p:sp>
        <p:nvSpPr>
          <p:cNvPr id="5" name="TextBox 4"/>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6" name="TextBox 5"/>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40 / 41</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175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art-logo.png"/>
          <p:cNvPicPr>
            <a:picLocks noChangeAspect="1"/>
          </p:cNvPicPr>
          <p:nvPr/>
        </p:nvPicPr>
        <p:blipFill>
          <a:blip r:embed="rId3"/>
          <a:stretch>
            <a:fillRect/>
          </a:stretch>
        </p:blipFill>
        <p:spPr>
          <a:xfrm>
            <a:off x="5547207" y="548640"/>
            <a:ext cx="1097280" cy="1097280"/>
          </a:xfrm>
          <a:prstGeom prst="rect">
            <a:avLst/>
          </a:prstGeom>
        </p:spPr>
      </p:pic>
      <p:sp>
        <p:nvSpPr>
          <p:cNvPr id="4" name="TextBox 3"/>
          <p:cNvSpPr txBox="1"/>
          <p:nvPr/>
        </p:nvSpPr>
        <p:spPr>
          <a:xfrm>
            <a:off x="457200" y="1920240"/>
            <a:ext cx="11247120" cy="914400"/>
          </a:xfrm>
          <a:prstGeom prst="rect">
            <a:avLst/>
          </a:prstGeom>
          <a:noFill/>
        </p:spPr>
        <p:txBody>
          <a:bodyPr wrap="none">
            <a:spAutoFit/>
          </a:bodyPr>
          <a:lstStyle/>
          <a:p>
            <a:pPr algn="ctr"/>
            <a:r>
              <a:rPr sz="4800" b="1">
                <a:solidFill>
                  <a:srgbClr val="042B59"/>
                </a:solidFill>
                <a:latin typeface="Calibri"/>
              </a:rPr>
              <a:t>Thanks for watching!</a:t>
            </a:r>
          </a:p>
        </p:txBody>
      </p:sp>
      <p:sp>
        <p:nvSpPr>
          <p:cNvPr id="5" name="TextBox 4"/>
          <p:cNvSpPr txBox="1"/>
          <p:nvPr/>
        </p:nvSpPr>
        <p:spPr>
          <a:xfrm>
            <a:off x="1828800" y="3108960"/>
            <a:ext cx="8503920" cy="2926080"/>
          </a:xfrm>
          <a:prstGeom prst="rect">
            <a:avLst/>
          </a:prstGeom>
          <a:noFill/>
        </p:spPr>
        <p:txBody>
          <a:bodyPr wrap="square">
            <a:spAutoFit/>
          </a:bodyPr>
          <a:lstStyle/>
          <a:p>
            <a:pPr algn="ctr">
              <a:spcAft>
                <a:spcPts val="800"/>
              </a:spcAft>
            </a:pPr>
            <a:r>
              <a:rPr sz="2000">
                <a:solidFill>
                  <a:srgbClr val="1A1A1A"/>
                </a:solidFill>
                <a:latin typeface="Calibri"/>
              </a:rPr>
              <a:t>Thanks for watching!</a:t>
            </a:r>
          </a:p>
          <a:p>
            <a:pPr algn="ctr">
              <a:spcAft>
                <a:spcPts val="800"/>
              </a:spcAft>
            </a:pPr>
            <a:r>
              <a:rPr sz="2000">
                <a:solidFill>
                  <a:srgbClr val="1A1A1A"/>
                </a:solidFill>
                <a:latin typeface="Calibri"/>
              </a:rPr>
              <a:t>Code along: `&lt;repo-link-placeholder&gt;`</a:t>
            </a:r>
          </a:p>
          <a:p>
            <a:pPr algn="ctr">
              <a:spcAft>
                <a:spcPts val="800"/>
              </a:spcAft>
            </a:pPr>
            <a:r>
              <a:rPr sz="2000">
                <a:solidFill>
                  <a:srgbClr val="1A1A1A"/>
                </a:solidFill>
                <a:latin typeface="Calibri"/>
              </a:rPr>
              <a:t>Full reference list: `docs/REFERENCES.md`</a:t>
            </a:r>
          </a:p>
          <a:p>
            <a:pPr algn="ctr">
              <a:spcAft>
                <a:spcPts val="800"/>
              </a:spcAft>
            </a:pPr>
            <a:r>
              <a:rPr sz="2000">
                <a:solidFill>
                  <a:srgbClr val="1A1A1A"/>
                </a:solidFill>
                <a:latin typeface="Calibri"/>
              </a:rPr>
              <a:t>Slides: CC BY 4.0 — Code: MIT License</a:t>
            </a:r>
          </a:p>
          <a:p>
            <a:pPr algn="ctr">
              <a:spcAft>
                <a:spcPts val="800"/>
              </a:spcAft>
            </a:pPr>
            <a:r>
              <a:rPr sz="2000">
                <a:solidFill>
                  <a:srgbClr val="1A1A1A"/>
                </a:solidFill>
                <a:latin typeface="Calibri"/>
              </a:rPr>
              <a:t>Produced by [Team Member 1], [Team Member 2], [Team Member 3] — ICS 410, Spring 2026</a:t>
            </a:r>
          </a:p>
          <a:p>
            <a:pPr algn="ctr">
              <a:spcAft>
                <a:spcPts val="800"/>
              </a:spcAft>
            </a:pPr>
            <a:r>
              <a:rPr sz="2000">
                <a:solidFill>
                  <a:srgbClr val="1A1A1A"/>
                </a:solidFill>
                <a:latin typeface="Calibri"/>
              </a:rPr>
              <a:t>Like, subscribe, and leave a question in the comments</a:t>
            </a:r>
          </a:p>
        </p:txBody>
      </p:sp>
      <p:sp>
        <p:nvSpPr>
          <p:cNvPr id="6" name="TextBox 5"/>
          <p:cNvSpPr txBox="1"/>
          <p:nvPr/>
        </p:nvSpPr>
        <p:spPr>
          <a:xfrm>
            <a:off x="457200" y="6446520"/>
            <a:ext cx="11247120" cy="320040"/>
          </a:xfrm>
          <a:prstGeom prst="rect">
            <a:avLst/>
          </a:prstGeom>
          <a:noFill/>
        </p:spPr>
        <p:txBody>
          <a:bodyPr wrap="none">
            <a:spAutoFit/>
          </a:bodyPr>
          <a:lstStyle/>
          <a:p>
            <a:pPr algn="l"/>
            <a:r>
              <a:rPr sz="1000" i="1">
                <a:solidFill>
                  <a:srgbClr val="6B7280"/>
                </a:solidFill>
                <a:latin typeface="Calibri"/>
              </a:rPr>
              <a:t>ICS 410 — Dart Tutorial</a:t>
            </a:r>
          </a:p>
        </p:txBody>
      </p:sp>
      <p:sp>
        <p:nvSpPr>
          <p:cNvPr id="7" name="TextBox 6"/>
          <p:cNvSpPr txBox="1"/>
          <p:nvPr/>
        </p:nvSpPr>
        <p:spPr>
          <a:xfrm>
            <a:off x="10058400" y="6446520"/>
            <a:ext cx="1828800" cy="320040"/>
          </a:xfrm>
          <a:prstGeom prst="rect">
            <a:avLst/>
          </a:prstGeom>
          <a:noFill/>
        </p:spPr>
        <p:txBody>
          <a:bodyPr wrap="none">
            <a:spAutoFit/>
          </a:bodyPr>
          <a:lstStyle/>
          <a:p>
            <a:pPr algn="r"/>
            <a:r>
              <a:rPr sz="1000" i="1">
                <a:solidFill>
                  <a:srgbClr val="6B7280"/>
                </a:solidFill>
                <a:latin typeface="Calibri"/>
              </a:rPr>
              <a:t>41 / 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7994</Words>
  <Application>Microsoft Macintosh PowerPoint</Application>
  <PresentationFormat>Widescreen</PresentationFormat>
  <Paragraphs>536</Paragraphs>
  <Slides>41</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ALHUSSAIN ZAIN YAMANI</cp:lastModifiedBy>
  <cp:revision>2</cp:revision>
  <dcterms:created xsi:type="dcterms:W3CDTF">2013-01-27T09:14:16Z</dcterms:created>
  <dcterms:modified xsi:type="dcterms:W3CDTF">2026-05-02T20:56:30Z</dcterms:modified>
  <cp:category/>
</cp:coreProperties>
</file>